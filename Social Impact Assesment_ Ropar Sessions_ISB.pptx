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ndini Shankhyan" userId="093cc972cbf6161d" providerId="LiveId" clId="{41BCCB7D-1C53-4DDB-8FCB-66A98B94DA96}"/>
    <pc:docChg chg="custSel modSld sldOrd">
      <pc:chgData name="Nandini Shankhyan" userId="093cc972cbf6161d" providerId="LiveId" clId="{41BCCB7D-1C53-4DDB-8FCB-66A98B94DA96}" dt="2026-09-05T17:11:14.072" v="73"/>
      <pc:docMkLst>
        <pc:docMk/>
      </pc:docMkLst>
      <pc:sldChg chg="delSp modSp mod">
        <pc:chgData name="Nandini Shankhyan" userId="093cc972cbf6161d" providerId="LiveId" clId="{41BCCB7D-1C53-4DDB-8FCB-66A98B94DA96}" dt="2026-09-05T17:09:45.475" v="32" actId="20577"/>
        <pc:sldMkLst>
          <pc:docMk/>
          <pc:sldMk cId="0" sldId="256"/>
        </pc:sldMkLst>
        <pc:spChg chg="mod">
          <ac:chgData name="Nandini Shankhyan" userId="093cc972cbf6161d" providerId="LiveId" clId="{41BCCB7D-1C53-4DDB-8FCB-66A98B94DA96}" dt="2026-09-05T17:09:45.475" v="32" actId="20577"/>
          <ac:spMkLst>
            <pc:docMk/>
            <pc:sldMk cId="0" sldId="256"/>
            <ac:spMk id="55" creationId="{00000000-0000-0000-0000-000000000000}"/>
          </ac:spMkLst>
        </pc:spChg>
        <pc:picChg chg="del">
          <ac:chgData name="Nandini Shankhyan" userId="093cc972cbf6161d" providerId="LiveId" clId="{41BCCB7D-1C53-4DDB-8FCB-66A98B94DA96}" dt="2026-09-05T17:09:00.419" v="0" actId="478"/>
          <ac:picMkLst>
            <pc:docMk/>
            <pc:sldMk cId="0" sldId="256"/>
            <ac:picMk id="56" creationId="{00000000-0000-0000-0000-000000000000}"/>
          </ac:picMkLst>
        </pc:picChg>
        <pc:picChg chg="mod">
          <ac:chgData name="Nandini Shankhyan" userId="093cc972cbf6161d" providerId="LiveId" clId="{41BCCB7D-1C53-4DDB-8FCB-66A98B94DA96}" dt="2026-09-05T17:09:03.658" v="1" actId="1076"/>
          <ac:picMkLst>
            <pc:docMk/>
            <pc:sldMk cId="0" sldId="256"/>
            <ac:picMk id="57" creationId="{00000000-0000-0000-0000-000000000000}"/>
          </ac:picMkLst>
        </pc:picChg>
        <pc:picChg chg="mod">
          <ac:chgData name="Nandini Shankhyan" userId="093cc972cbf6161d" providerId="LiveId" clId="{41BCCB7D-1C53-4DDB-8FCB-66A98B94DA96}" dt="2026-09-05T17:09:05.966" v="2" actId="1076"/>
          <ac:picMkLst>
            <pc:docMk/>
            <pc:sldMk cId="0" sldId="256"/>
            <ac:picMk id="58" creationId="{00000000-0000-0000-0000-000000000000}"/>
          </ac:picMkLst>
        </pc:picChg>
        <pc:picChg chg="mod">
          <ac:chgData name="Nandini Shankhyan" userId="093cc972cbf6161d" providerId="LiveId" clId="{41BCCB7D-1C53-4DDB-8FCB-66A98B94DA96}" dt="2026-09-05T17:09:08.914" v="3" actId="1076"/>
          <ac:picMkLst>
            <pc:docMk/>
            <pc:sldMk cId="0" sldId="256"/>
            <ac:picMk id="59" creationId="{00000000-0000-0000-0000-000000000000}"/>
          </ac:picMkLst>
        </pc:picChg>
        <pc:picChg chg="mod">
          <ac:chgData name="Nandini Shankhyan" userId="093cc972cbf6161d" providerId="LiveId" clId="{41BCCB7D-1C53-4DDB-8FCB-66A98B94DA96}" dt="2026-09-05T17:09:11.561" v="4" actId="1076"/>
          <ac:picMkLst>
            <pc:docMk/>
            <pc:sldMk cId="0" sldId="256"/>
            <ac:picMk id="60" creationId="{00000000-0000-0000-0000-000000000000}"/>
          </ac:picMkLst>
        </pc:picChg>
      </pc:sldChg>
      <pc:sldChg chg="modSp mod">
        <pc:chgData name="Nandini Shankhyan" userId="093cc972cbf6161d" providerId="LiveId" clId="{41BCCB7D-1C53-4DDB-8FCB-66A98B94DA96}" dt="2026-09-05T17:09:55.651" v="36" actId="20577"/>
        <pc:sldMkLst>
          <pc:docMk/>
          <pc:sldMk cId="0" sldId="257"/>
        </pc:sldMkLst>
        <pc:spChg chg="mod">
          <ac:chgData name="Nandini Shankhyan" userId="093cc972cbf6161d" providerId="LiveId" clId="{41BCCB7D-1C53-4DDB-8FCB-66A98B94DA96}" dt="2026-09-05T17:09:55.651" v="36" actId="20577"/>
          <ac:spMkLst>
            <pc:docMk/>
            <pc:sldMk cId="0" sldId="257"/>
            <ac:spMk id="66" creationId="{00000000-0000-0000-0000-000000000000}"/>
          </ac:spMkLst>
        </pc:spChg>
      </pc:sldChg>
      <pc:sldChg chg="modSp mod ord">
        <pc:chgData name="Nandini Shankhyan" userId="093cc972cbf6161d" providerId="LiveId" clId="{41BCCB7D-1C53-4DDB-8FCB-66A98B94DA96}" dt="2026-09-05T17:11:14.072" v="73"/>
        <pc:sldMkLst>
          <pc:docMk/>
          <pc:sldMk cId="0" sldId="275"/>
        </pc:sldMkLst>
        <pc:spChg chg="mod">
          <ac:chgData name="Nandini Shankhyan" userId="093cc972cbf6161d" providerId="LiveId" clId="{41BCCB7D-1C53-4DDB-8FCB-66A98B94DA96}" dt="2026-09-05T17:10:40.853" v="71" actId="20577"/>
          <ac:spMkLst>
            <pc:docMk/>
            <pc:sldMk cId="0" sldId="275"/>
            <ac:spMk id="17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b6d2391685_2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b6d2391685_2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b6d2391685_2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b6d2391685_2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b6d2391685_2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b6d2391685_2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b6d2391685_3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b6d2391685_3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dfd77bcce7_0_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dfd77bcce7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dfd77bcce7_0_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dfd77bcce7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b6d2391685_2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b6d2391685_2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b6d2391685_3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b6d2391685_3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b6d2391685_2_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b6d2391685_2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b6d2391685_2_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b6d2391685_2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b6d2391685_2_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b6d2391685_2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b6d2391685_2_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b6d2391685_2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dfd77bcce7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dfd77bcce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dfd77bcce7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dfd77bcce7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dfd77bcce7_0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dfd77bcce7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dfd77bcce7_0_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dfd77bcce7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b6d2391685_2_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b6d2391685_2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b6d2391685_2_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b6d2391685_2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b6d2391685_2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b6d2391685_2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F7AAAA"/>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jp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6.jp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11.jpg"/><Relationship Id="rId4" Type="http://schemas.openxmlformats.org/officeDocument/2006/relationships/image" Target="../media/image10.jp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0" y="816750"/>
            <a:ext cx="8520600" cy="11835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sz="4000" b="1" u="sng"/>
              <a:t>Social Impact Assessment Report</a:t>
            </a:r>
            <a:endParaRPr sz="4000" b="1" u="sng"/>
          </a:p>
        </p:txBody>
      </p:sp>
      <p:sp>
        <p:nvSpPr>
          <p:cNvPr id="55" name="Google Shape;55;p13"/>
          <p:cNvSpPr txBox="1">
            <a:spLocks noGrp="1"/>
          </p:cNvSpPr>
          <p:nvPr>
            <p:ph type="subTitle" idx="1"/>
          </p:nvPr>
        </p:nvSpPr>
        <p:spPr>
          <a:xfrm>
            <a:off x="311700" y="2000250"/>
            <a:ext cx="8520600" cy="2125500"/>
          </a:xfrm>
          <a:prstGeom prst="rect">
            <a:avLst/>
          </a:prstGeom>
        </p:spPr>
        <p:txBody>
          <a:bodyPr spcFirstLastPara="1" wrap="square" lIns="91425" tIns="91425" rIns="91425" bIns="91425" anchor="t" anchorCtr="0">
            <a:noAutofit/>
          </a:bodyPr>
          <a:lstStyle/>
          <a:p>
            <a:pPr marL="0" lvl="0" indent="0" algn="ctr" rtl="0">
              <a:lnSpc>
                <a:spcPct val="80000"/>
              </a:lnSpc>
              <a:spcBef>
                <a:spcPts val="0"/>
              </a:spcBef>
              <a:spcAft>
                <a:spcPts val="0"/>
              </a:spcAft>
              <a:buSzPts val="935"/>
              <a:buNone/>
            </a:pPr>
            <a:r>
              <a:rPr lang="en" sz="1879" i="1" dirty="0">
                <a:solidFill>
                  <a:schemeClr val="dk1"/>
                </a:solidFill>
              </a:rPr>
              <a:t>Detailed analysis of the Menstrual Hygiene Education Sessions</a:t>
            </a:r>
            <a:endParaRPr sz="1879" i="1" dirty="0">
              <a:solidFill>
                <a:schemeClr val="dk1"/>
              </a:solidFill>
            </a:endParaRPr>
          </a:p>
          <a:p>
            <a:pPr marL="0" lvl="0" indent="0" algn="ctr" rtl="0">
              <a:lnSpc>
                <a:spcPct val="80000"/>
              </a:lnSpc>
              <a:spcBef>
                <a:spcPts val="0"/>
              </a:spcBef>
              <a:spcAft>
                <a:spcPts val="0"/>
              </a:spcAft>
              <a:buSzPts val="935"/>
              <a:buNone/>
            </a:pPr>
            <a:r>
              <a:rPr lang="en" sz="1879" i="1" dirty="0">
                <a:solidFill>
                  <a:schemeClr val="dk1"/>
                </a:solidFill>
              </a:rPr>
              <a:t>organized by - </a:t>
            </a:r>
            <a:endParaRPr sz="1879" i="1" dirty="0">
              <a:solidFill>
                <a:schemeClr val="dk1"/>
              </a:solidFill>
            </a:endParaRPr>
          </a:p>
          <a:p>
            <a:pPr marL="0" lvl="0" indent="0" algn="ctr" rtl="0">
              <a:lnSpc>
                <a:spcPct val="115000"/>
              </a:lnSpc>
              <a:spcBef>
                <a:spcPts val="1200"/>
              </a:spcBef>
              <a:spcAft>
                <a:spcPts val="0"/>
              </a:spcAft>
              <a:buSzPts val="1100"/>
              <a:buNone/>
            </a:pPr>
            <a:r>
              <a:rPr lang="en" sz="1600" i="1" dirty="0">
                <a:solidFill>
                  <a:schemeClr val="dk1"/>
                </a:solidFill>
              </a:rPr>
              <a:t>District Administration Rupnagar</a:t>
            </a:r>
            <a:br>
              <a:rPr lang="en" sz="1600" i="1" dirty="0">
                <a:solidFill>
                  <a:schemeClr val="dk1"/>
                </a:solidFill>
              </a:rPr>
            </a:br>
            <a:r>
              <a:rPr lang="en" sz="1600" i="1" dirty="0">
                <a:solidFill>
                  <a:schemeClr val="dk1"/>
                </a:solidFill>
              </a:rPr>
              <a:t>District Program Office Rupnagar</a:t>
            </a:r>
            <a:br>
              <a:rPr lang="en" sz="1600" i="1" dirty="0">
                <a:solidFill>
                  <a:schemeClr val="dk1"/>
                </a:solidFill>
              </a:rPr>
            </a:br>
            <a:r>
              <a:rPr lang="en" sz="1600" i="1" dirty="0">
                <a:solidFill>
                  <a:schemeClr val="dk1"/>
                </a:solidFill>
              </a:rPr>
              <a:t>District Development Fellowship</a:t>
            </a:r>
            <a:br>
              <a:rPr lang="en" sz="1600" i="1" dirty="0">
                <a:solidFill>
                  <a:schemeClr val="dk1"/>
                </a:solidFill>
              </a:rPr>
            </a:br>
            <a:r>
              <a:rPr lang="en" sz="1600" i="1" dirty="0">
                <a:solidFill>
                  <a:schemeClr val="dk1"/>
                </a:solidFill>
              </a:rPr>
              <a:t>The Crimson Project</a:t>
            </a:r>
            <a:endParaRPr sz="2680" i="1" dirty="0">
              <a:solidFill>
                <a:schemeClr val="dk1"/>
              </a:solidFill>
            </a:endParaRPr>
          </a:p>
          <a:p>
            <a:pPr marL="0" lvl="0" indent="0" algn="ctr" rtl="0">
              <a:lnSpc>
                <a:spcPct val="80000"/>
              </a:lnSpc>
              <a:spcBef>
                <a:spcPts val="1200"/>
              </a:spcBef>
              <a:spcAft>
                <a:spcPts val="0"/>
              </a:spcAft>
              <a:buSzPts val="935"/>
              <a:buNone/>
            </a:pPr>
            <a:endParaRPr sz="2280" i="1" dirty="0">
              <a:solidFill>
                <a:schemeClr val="dk1"/>
              </a:solidFill>
            </a:endParaRPr>
          </a:p>
        </p:txBody>
      </p:sp>
      <p:pic>
        <p:nvPicPr>
          <p:cNvPr id="57" name="Google Shape;57;p13"/>
          <p:cNvPicPr preferRelativeResize="0"/>
          <p:nvPr/>
        </p:nvPicPr>
        <p:blipFill>
          <a:blip r:embed="rId3">
            <a:alphaModFix/>
          </a:blip>
          <a:stretch>
            <a:fillRect/>
          </a:stretch>
        </p:blipFill>
        <p:spPr>
          <a:xfrm>
            <a:off x="1190807" y="4082674"/>
            <a:ext cx="840000" cy="794347"/>
          </a:xfrm>
          <a:prstGeom prst="rect">
            <a:avLst/>
          </a:prstGeom>
          <a:noFill/>
          <a:ln>
            <a:noFill/>
          </a:ln>
        </p:spPr>
      </p:pic>
      <p:pic>
        <p:nvPicPr>
          <p:cNvPr id="58" name="Google Shape;58;p13"/>
          <p:cNvPicPr preferRelativeResize="0"/>
          <p:nvPr/>
        </p:nvPicPr>
        <p:blipFill>
          <a:blip r:embed="rId4">
            <a:alphaModFix/>
          </a:blip>
          <a:stretch>
            <a:fillRect/>
          </a:stretch>
        </p:blipFill>
        <p:spPr>
          <a:xfrm>
            <a:off x="3072078" y="4060183"/>
            <a:ext cx="858609" cy="794350"/>
          </a:xfrm>
          <a:prstGeom prst="rect">
            <a:avLst/>
          </a:prstGeom>
          <a:noFill/>
          <a:ln>
            <a:noFill/>
          </a:ln>
        </p:spPr>
      </p:pic>
      <p:pic>
        <p:nvPicPr>
          <p:cNvPr id="59" name="Google Shape;59;p13"/>
          <p:cNvPicPr preferRelativeResize="0"/>
          <p:nvPr/>
        </p:nvPicPr>
        <p:blipFill>
          <a:blip r:embed="rId5">
            <a:alphaModFix/>
          </a:blip>
          <a:stretch>
            <a:fillRect/>
          </a:stretch>
        </p:blipFill>
        <p:spPr>
          <a:xfrm>
            <a:off x="5299000" y="4089895"/>
            <a:ext cx="1009275" cy="734925"/>
          </a:xfrm>
          <a:prstGeom prst="rect">
            <a:avLst/>
          </a:prstGeom>
          <a:noFill/>
          <a:ln>
            <a:noFill/>
          </a:ln>
        </p:spPr>
      </p:pic>
      <p:pic>
        <p:nvPicPr>
          <p:cNvPr id="60" name="Google Shape;60;p13"/>
          <p:cNvPicPr preferRelativeResize="0"/>
          <p:nvPr/>
        </p:nvPicPr>
        <p:blipFill>
          <a:blip r:embed="rId6">
            <a:alphaModFix/>
          </a:blip>
          <a:stretch>
            <a:fillRect/>
          </a:stretch>
        </p:blipFill>
        <p:spPr>
          <a:xfrm>
            <a:off x="7029512" y="3986210"/>
            <a:ext cx="1081550" cy="9781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1200"/>
              </a:spcBef>
              <a:spcAft>
                <a:spcPts val="1200"/>
              </a:spcAft>
              <a:buClr>
                <a:schemeClr val="dk1"/>
              </a:buClr>
              <a:buSzPct val="50000"/>
              <a:buFont typeface="Arial"/>
              <a:buNone/>
            </a:pPr>
            <a:r>
              <a:rPr lang="en" sz="2200" i="1"/>
              <a:t>About the Initiative </a:t>
            </a:r>
            <a:endParaRPr sz="3600" i="1"/>
          </a:p>
        </p:txBody>
      </p:sp>
      <p:sp>
        <p:nvSpPr>
          <p:cNvPr id="66" name="Google Shape;66;p14"/>
          <p:cNvSpPr txBox="1">
            <a:spLocks noGrp="1"/>
          </p:cNvSpPr>
          <p:nvPr>
            <p:ph type="body" idx="1"/>
          </p:nvPr>
        </p:nvSpPr>
        <p:spPr>
          <a:xfrm>
            <a:off x="267800" y="1126125"/>
            <a:ext cx="8520600" cy="3416400"/>
          </a:xfrm>
          <a:prstGeom prst="rect">
            <a:avLst/>
          </a:prstGeom>
        </p:spPr>
        <p:txBody>
          <a:bodyPr spcFirstLastPara="1" wrap="square" lIns="91425" tIns="91425" rIns="91425" bIns="91425" anchor="t" anchorCtr="0">
            <a:noAutofit/>
          </a:bodyPr>
          <a:lstStyle/>
          <a:p>
            <a:pPr marL="0" lvl="0" indent="0" algn="l" rtl="0">
              <a:lnSpc>
                <a:spcPct val="95000"/>
              </a:lnSpc>
              <a:spcBef>
                <a:spcPts val="1200"/>
              </a:spcBef>
              <a:spcAft>
                <a:spcPts val="0"/>
              </a:spcAft>
              <a:buSzPts val="852"/>
              <a:buNone/>
            </a:pPr>
            <a:r>
              <a:rPr lang="en" sz="1500" dirty="0">
                <a:solidFill>
                  <a:schemeClr val="dk1"/>
                </a:solidFill>
              </a:rPr>
              <a:t>We, </a:t>
            </a:r>
            <a:r>
              <a:rPr lang="en" sz="1500" b="1" dirty="0">
                <a:solidFill>
                  <a:schemeClr val="dk1"/>
                </a:solidFill>
              </a:rPr>
              <a:t>Project Crimson</a:t>
            </a:r>
            <a:r>
              <a:rPr lang="en" sz="1500" dirty="0">
                <a:solidFill>
                  <a:schemeClr val="dk1"/>
                </a:solidFill>
              </a:rPr>
              <a:t>, aim to eliminate the stereotypes associated with Menstruation by educating and empowering communities to speak up and strive to make menstrual products affordable for all. </a:t>
            </a:r>
            <a:endParaRPr sz="1500" dirty="0">
              <a:solidFill>
                <a:schemeClr val="dk1"/>
              </a:solidFill>
            </a:endParaRPr>
          </a:p>
          <a:p>
            <a:pPr marL="0" lvl="0" indent="0" algn="l" rtl="0">
              <a:lnSpc>
                <a:spcPct val="95000"/>
              </a:lnSpc>
              <a:spcBef>
                <a:spcPts val="1200"/>
              </a:spcBef>
              <a:spcAft>
                <a:spcPts val="0"/>
              </a:spcAft>
              <a:buSzPts val="852"/>
              <a:buNone/>
            </a:pPr>
            <a:r>
              <a:rPr lang="en" sz="1500" dirty="0">
                <a:solidFill>
                  <a:schemeClr val="dk1"/>
                </a:solidFill>
              </a:rPr>
              <a:t>Till date, a large section of the society perceives menstruation to be impure. Women feel ashamed to talk about periods and avoid discussing the topic. Therefore, young girls are not well- informed of the crucial aspects related to menstruation, which they ought to know. Since, no light is ever shed on the topic of menstruation in the households and the schools, young boys also don’t understand the immense importance of menstruation in a woman's life. </a:t>
            </a:r>
            <a:endParaRPr sz="1500" dirty="0">
              <a:solidFill>
                <a:schemeClr val="dk1"/>
              </a:solidFill>
            </a:endParaRPr>
          </a:p>
          <a:p>
            <a:pPr marL="0" lvl="0" indent="0" algn="l" rtl="0">
              <a:lnSpc>
                <a:spcPct val="95000"/>
              </a:lnSpc>
              <a:spcBef>
                <a:spcPts val="1200"/>
              </a:spcBef>
              <a:spcAft>
                <a:spcPts val="0"/>
              </a:spcAft>
              <a:buSzPts val="852"/>
              <a:buNone/>
            </a:pPr>
            <a:r>
              <a:rPr lang="en" sz="1500" dirty="0">
                <a:solidFill>
                  <a:schemeClr val="dk1"/>
                </a:solidFill>
              </a:rPr>
              <a:t>Thus to tackle this, on the occasion of </a:t>
            </a:r>
            <a:r>
              <a:rPr lang="en" sz="1500" b="1" dirty="0">
                <a:solidFill>
                  <a:schemeClr val="dk1"/>
                </a:solidFill>
              </a:rPr>
              <a:t>Menstrual Hygiene Day</a:t>
            </a:r>
            <a:r>
              <a:rPr lang="en" sz="1500" dirty="0">
                <a:solidFill>
                  <a:schemeClr val="dk1"/>
                </a:solidFill>
              </a:rPr>
              <a:t>, Enactus SVC in collaboration with the Government of Rupnagar, organized a </a:t>
            </a:r>
            <a:r>
              <a:rPr lang="en" sz="1500" b="1" dirty="0">
                <a:solidFill>
                  <a:schemeClr val="dk1"/>
                </a:solidFill>
              </a:rPr>
              <a:t>Menstrual Education Programme</a:t>
            </a:r>
            <a:r>
              <a:rPr lang="en" sz="1500" dirty="0">
                <a:solidFill>
                  <a:schemeClr val="dk1"/>
                </a:solidFill>
              </a:rPr>
              <a:t> for the students of classes 6th to 12th under the </a:t>
            </a:r>
            <a:r>
              <a:rPr lang="en" sz="1500" b="1" dirty="0">
                <a:solidFill>
                  <a:schemeClr val="dk1"/>
                </a:solidFill>
              </a:rPr>
              <a:t>Beti Bachao Beti Padhao Scheme</a:t>
            </a:r>
            <a:r>
              <a:rPr lang="en" sz="1500" dirty="0">
                <a:solidFill>
                  <a:schemeClr val="dk1"/>
                </a:solidFill>
              </a:rPr>
              <a:t> from 28th May to 10th June 2021. </a:t>
            </a:r>
            <a:endParaRPr sz="1500" dirty="0">
              <a:solidFill>
                <a:schemeClr val="dk1"/>
              </a:solidFill>
            </a:endParaRPr>
          </a:p>
          <a:p>
            <a:pPr marL="0" lvl="0" indent="0" algn="l" rtl="0">
              <a:lnSpc>
                <a:spcPct val="95000"/>
              </a:lnSpc>
              <a:spcBef>
                <a:spcPts val="1200"/>
              </a:spcBef>
              <a:spcAft>
                <a:spcPts val="1200"/>
              </a:spcAft>
              <a:buSzPts val="852"/>
              <a:buNone/>
            </a:pPr>
            <a:endParaRPr sz="1500" dirty="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5"/>
          <p:cNvSpPr txBox="1">
            <a:spLocks noGrp="1"/>
          </p:cNvSpPr>
          <p:nvPr>
            <p:ph type="body" idx="1"/>
          </p:nvPr>
        </p:nvSpPr>
        <p:spPr>
          <a:xfrm>
            <a:off x="311700" y="1591800"/>
            <a:ext cx="8520600" cy="3416400"/>
          </a:xfrm>
          <a:prstGeom prst="rect">
            <a:avLst/>
          </a:prstGeom>
        </p:spPr>
        <p:txBody>
          <a:bodyPr spcFirstLastPara="1" wrap="square" lIns="91425" tIns="91425" rIns="91425" bIns="91425" anchor="t" anchorCtr="0">
            <a:normAutofit/>
          </a:bodyPr>
          <a:lstStyle/>
          <a:p>
            <a:pPr marL="457200" lvl="0" indent="-330200" algn="l" rtl="0">
              <a:spcBef>
                <a:spcPts val="1200"/>
              </a:spcBef>
              <a:spcAft>
                <a:spcPts val="0"/>
              </a:spcAft>
              <a:buClr>
                <a:schemeClr val="dk1"/>
              </a:buClr>
              <a:buSzPts val="1600"/>
              <a:buChar char="●"/>
            </a:pPr>
            <a:r>
              <a:rPr lang="en" sz="1600">
                <a:solidFill>
                  <a:schemeClr val="dk1"/>
                </a:solidFill>
              </a:rPr>
              <a:t>Education of adolescents on the topics related to menstrual health and hygiene by the end of which the children shall be better acquainted with the process </a:t>
            </a:r>
            <a:endParaRPr sz="1600">
              <a:solidFill>
                <a:schemeClr val="dk1"/>
              </a:solidFill>
            </a:endParaRPr>
          </a:p>
          <a:p>
            <a:pPr marL="457200" lvl="0" indent="-330200" algn="l" rtl="0">
              <a:spcBef>
                <a:spcPts val="0"/>
              </a:spcBef>
              <a:spcAft>
                <a:spcPts val="0"/>
              </a:spcAft>
              <a:buClr>
                <a:schemeClr val="dk1"/>
              </a:buClr>
              <a:buSzPts val="1600"/>
              <a:buChar char="●"/>
            </a:pPr>
            <a:r>
              <a:rPr lang="en" sz="1600">
                <a:solidFill>
                  <a:schemeClr val="dk1"/>
                </a:solidFill>
              </a:rPr>
              <a:t>They shall also be aware of the choices available to them regarding their sexual and reproductive health </a:t>
            </a:r>
            <a:endParaRPr sz="1600">
              <a:solidFill>
                <a:schemeClr val="dk1"/>
              </a:solidFill>
            </a:endParaRPr>
          </a:p>
          <a:p>
            <a:pPr marL="457200" lvl="0" indent="-330200" algn="l" rtl="0">
              <a:spcBef>
                <a:spcPts val="0"/>
              </a:spcBef>
              <a:spcAft>
                <a:spcPts val="0"/>
              </a:spcAft>
              <a:buClr>
                <a:schemeClr val="dk1"/>
              </a:buClr>
              <a:buSzPts val="1600"/>
              <a:buChar char="●"/>
            </a:pPr>
            <a:r>
              <a:rPr lang="en" sz="1600">
                <a:solidFill>
                  <a:schemeClr val="dk1"/>
                </a:solidFill>
              </a:rPr>
              <a:t>This would help them with relatable questions and stories which can be shared back and forth to establish an environment of ease and comfort.</a:t>
            </a:r>
            <a:endParaRPr sz="1600">
              <a:solidFill>
                <a:schemeClr val="dk1"/>
              </a:solidFill>
            </a:endParaRPr>
          </a:p>
          <a:p>
            <a:pPr marL="457200" lvl="0" indent="-330200" algn="l" rtl="0">
              <a:spcBef>
                <a:spcPts val="0"/>
              </a:spcBef>
              <a:spcAft>
                <a:spcPts val="0"/>
              </a:spcAft>
              <a:buClr>
                <a:schemeClr val="dk1"/>
              </a:buClr>
              <a:buSzPts val="1600"/>
              <a:buChar char="●"/>
            </a:pPr>
            <a:r>
              <a:rPr lang="en" sz="1600">
                <a:solidFill>
                  <a:schemeClr val="dk1"/>
                </a:solidFill>
              </a:rPr>
              <a:t>Ensure that the students are given a safe space to talk, discuss and learn about menstruation, and that there is easy access to necessities such as pads.</a:t>
            </a:r>
            <a:endParaRPr sz="1600">
              <a:solidFill>
                <a:schemeClr val="dk1"/>
              </a:solidFill>
            </a:endParaRPr>
          </a:p>
          <a:p>
            <a:pPr marL="457200" lvl="0" indent="-330200" algn="l" rtl="0">
              <a:spcBef>
                <a:spcPts val="0"/>
              </a:spcBef>
              <a:spcAft>
                <a:spcPts val="0"/>
              </a:spcAft>
              <a:buClr>
                <a:schemeClr val="dk1"/>
              </a:buClr>
              <a:buSzPts val="1600"/>
              <a:buChar char="●"/>
            </a:pPr>
            <a:r>
              <a:rPr lang="en" sz="1600">
                <a:solidFill>
                  <a:schemeClr val="dk1"/>
                </a:solidFill>
              </a:rPr>
              <a:t>Break the mental block of menstruation being a “girl problem” and normalizing an open dialogue amongst boys as well.</a:t>
            </a:r>
            <a:endParaRPr sz="2200"/>
          </a:p>
        </p:txBody>
      </p:sp>
      <p:sp>
        <p:nvSpPr>
          <p:cNvPr id="72" name="Google Shape;72;p15"/>
          <p:cNvSpPr txBox="1"/>
          <p:nvPr/>
        </p:nvSpPr>
        <p:spPr>
          <a:xfrm>
            <a:off x="407200" y="321475"/>
            <a:ext cx="8573700" cy="7473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r>
              <a:rPr lang="en" sz="1500">
                <a:solidFill>
                  <a:schemeClr val="dk1"/>
                </a:solidFill>
              </a:rPr>
              <a:t>Till date, we have conducted a total of </a:t>
            </a:r>
            <a:r>
              <a:rPr lang="en" sz="1700" b="1">
                <a:solidFill>
                  <a:schemeClr val="dk1"/>
                </a:solidFill>
              </a:rPr>
              <a:t>36 sessions</a:t>
            </a:r>
            <a:r>
              <a:rPr lang="en" sz="1500">
                <a:solidFill>
                  <a:schemeClr val="dk1"/>
                </a:solidFill>
              </a:rPr>
              <a:t> and have sensitized </a:t>
            </a:r>
            <a:r>
              <a:rPr lang="en" sz="1700" b="1">
                <a:solidFill>
                  <a:schemeClr val="dk1"/>
                </a:solidFill>
              </a:rPr>
              <a:t>5500+ girls</a:t>
            </a:r>
            <a:r>
              <a:rPr lang="en" sz="1500">
                <a:solidFill>
                  <a:schemeClr val="dk1"/>
                </a:solidFill>
              </a:rPr>
              <a:t> and </a:t>
            </a:r>
            <a:r>
              <a:rPr lang="en" sz="1700" b="1">
                <a:solidFill>
                  <a:schemeClr val="dk1"/>
                </a:solidFill>
              </a:rPr>
              <a:t>1000+ boys</a:t>
            </a:r>
            <a:r>
              <a:rPr lang="en" sz="1700">
                <a:solidFill>
                  <a:schemeClr val="dk1"/>
                </a:solidFill>
              </a:rPr>
              <a:t>.</a:t>
            </a:r>
            <a:endParaRPr sz="1500">
              <a:solidFill>
                <a:schemeClr val="dk1"/>
              </a:solidFill>
            </a:endParaRPr>
          </a:p>
        </p:txBody>
      </p:sp>
      <p:sp>
        <p:nvSpPr>
          <p:cNvPr id="73" name="Google Shape;73;p15"/>
          <p:cNvSpPr txBox="1"/>
          <p:nvPr/>
        </p:nvSpPr>
        <p:spPr>
          <a:xfrm>
            <a:off x="492925" y="1160700"/>
            <a:ext cx="80046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t>The objectives of our sessions are as follows:-</a:t>
            </a:r>
            <a:endParaRPr sz="16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6"/>
          <p:cNvSpPr txBox="1">
            <a:spLocks noGrp="1"/>
          </p:cNvSpPr>
          <p:nvPr>
            <p:ph type="title"/>
          </p:nvPr>
        </p:nvSpPr>
        <p:spPr>
          <a:xfrm>
            <a:off x="311700" y="151550"/>
            <a:ext cx="85206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1200"/>
              </a:spcBef>
              <a:spcAft>
                <a:spcPts val="0"/>
              </a:spcAft>
              <a:buClr>
                <a:schemeClr val="dk1"/>
              </a:buClr>
              <a:buSzPct val="50000"/>
              <a:buFont typeface="Arial"/>
              <a:buNone/>
            </a:pPr>
            <a:r>
              <a:rPr lang="en" sz="2200" i="1"/>
              <a:t>About the Sessions </a:t>
            </a:r>
            <a:endParaRPr sz="3600" i="1"/>
          </a:p>
          <a:p>
            <a:pPr marL="0" lvl="0" indent="0" algn="l" rtl="0">
              <a:spcBef>
                <a:spcPts val="1200"/>
              </a:spcBef>
              <a:spcAft>
                <a:spcPts val="0"/>
              </a:spcAft>
              <a:buNone/>
            </a:pPr>
            <a:endParaRPr/>
          </a:p>
        </p:txBody>
      </p:sp>
      <p:sp>
        <p:nvSpPr>
          <p:cNvPr id="79" name="Google Shape;79;p16"/>
          <p:cNvSpPr txBox="1">
            <a:spLocks noGrp="1"/>
          </p:cNvSpPr>
          <p:nvPr>
            <p:ph type="body" idx="1"/>
          </p:nvPr>
        </p:nvSpPr>
        <p:spPr>
          <a:xfrm>
            <a:off x="311700" y="681375"/>
            <a:ext cx="8520600" cy="44187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Clr>
                <a:schemeClr val="dk1"/>
              </a:buClr>
              <a:buSzPts val="1100"/>
              <a:buFont typeface="Arial"/>
              <a:buNone/>
            </a:pPr>
            <a:r>
              <a:rPr lang="en" sz="1450">
                <a:solidFill>
                  <a:schemeClr val="dk1"/>
                </a:solidFill>
              </a:rPr>
              <a:t>The sessions began with the inauguration by the respected Ms. Sonali Giri, IAS Deputy Commissioner and were concluded by the respected Ms. Deepshikha Sharma, IAS Additional Deputy Commissioner.</a:t>
            </a:r>
            <a:endParaRPr sz="1450" i="1">
              <a:solidFill>
                <a:schemeClr val="dk1"/>
              </a:solidFill>
            </a:endParaRPr>
          </a:p>
          <a:p>
            <a:pPr marL="0" lvl="0" indent="0" algn="l" rtl="0">
              <a:spcBef>
                <a:spcPts val="1200"/>
              </a:spcBef>
              <a:spcAft>
                <a:spcPts val="0"/>
              </a:spcAft>
              <a:buClr>
                <a:schemeClr val="dk1"/>
              </a:buClr>
              <a:buSzPts val="1100"/>
              <a:buFont typeface="Arial"/>
              <a:buNone/>
            </a:pPr>
            <a:r>
              <a:rPr lang="en" sz="1450">
                <a:solidFill>
                  <a:schemeClr val="dk1"/>
                </a:solidFill>
              </a:rPr>
              <a:t>The sessions took place in a well organised and structured manner. There were 4 sessions each day, two for the girls and two for the boys. The duration of each session was about 60 minutes and was broken down into the following phases:</a:t>
            </a:r>
            <a:endParaRPr sz="1450">
              <a:solidFill>
                <a:schemeClr val="dk1"/>
              </a:solidFill>
            </a:endParaRPr>
          </a:p>
          <a:p>
            <a:pPr marL="457200" lvl="0" indent="-320675" algn="l" rtl="0">
              <a:spcBef>
                <a:spcPts val="1200"/>
              </a:spcBef>
              <a:spcAft>
                <a:spcPts val="0"/>
              </a:spcAft>
              <a:buClr>
                <a:schemeClr val="dk1"/>
              </a:buClr>
              <a:buSzPts val="1450"/>
              <a:buChar char="●"/>
            </a:pPr>
            <a:r>
              <a:rPr lang="en" sz="1450">
                <a:solidFill>
                  <a:schemeClr val="dk1"/>
                </a:solidFill>
              </a:rPr>
              <a:t>Ice breaking session</a:t>
            </a:r>
            <a:endParaRPr sz="1450">
              <a:solidFill>
                <a:schemeClr val="dk1"/>
              </a:solidFill>
            </a:endParaRPr>
          </a:p>
          <a:p>
            <a:pPr marL="457200" lvl="0" indent="-320675" algn="l" rtl="0">
              <a:spcBef>
                <a:spcPts val="0"/>
              </a:spcBef>
              <a:spcAft>
                <a:spcPts val="0"/>
              </a:spcAft>
              <a:buClr>
                <a:schemeClr val="dk1"/>
              </a:buClr>
              <a:buSzPts val="1450"/>
              <a:buChar char="●"/>
            </a:pPr>
            <a:r>
              <a:rPr lang="en" sz="1450">
                <a:solidFill>
                  <a:schemeClr val="dk1"/>
                </a:solidFill>
              </a:rPr>
              <a:t>The speaker session supported with an informative PPT</a:t>
            </a:r>
            <a:endParaRPr sz="1450">
              <a:solidFill>
                <a:schemeClr val="dk1"/>
              </a:solidFill>
            </a:endParaRPr>
          </a:p>
          <a:p>
            <a:pPr marL="457200" lvl="0" indent="-320675" algn="l" rtl="0">
              <a:spcBef>
                <a:spcPts val="0"/>
              </a:spcBef>
              <a:spcAft>
                <a:spcPts val="0"/>
              </a:spcAft>
              <a:buClr>
                <a:schemeClr val="dk1"/>
              </a:buClr>
              <a:buSzPts val="1450"/>
              <a:buChar char="●"/>
            </a:pPr>
            <a:r>
              <a:rPr lang="en" sz="1450">
                <a:solidFill>
                  <a:schemeClr val="dk1"/>
                </a:solidFill>
              </a:rPr>
              <a:t>The question &amp; answer round </a:t>
            </a:r>
            <a:endParaRPr sz="1450">
              <a:solidFill>
                <a:schemeClr val="dk1"/>
              </a:solidFill>
            </a:endParaRPr>
          </a:p>
          <a:p>
            <a:pPr marL="0" lvl="0" indent="0" algn="l" rtl="0">
              <a:spcBef>
                <a:spcPts val="1200"/>
              </a:spcBef>
              <a:spcAft>
                <a:spcPts val="0"/>
              </a:spcAft>
              <a:buClr>
                <a:schemeClr val="dk1"/>
              </a:buClr>
              <a:buSzPts val="1100"/>
              <a:buFont typeface="Arial"/>
              <a:buNone/>
            </a:pPr>
            <a:r>
              <a:rPr lang="en" sz="1450">
                <a:solidFill>
                  <a:schemeClr val="dk1"/>
                </a:solidFill>
              </a:rPr>
              <a:t>The sessions commenced with classes 6 &amp; 7 with a strength of around 50 students in every session. As we proceeded towards higher classes, the strength of the attendees reached a perfect 100 in each session. </a:t>
            </a:r>
            <a:endParaRPr sz="1450">
              <a:solidFill>
                <a:schemeClr val="dk1"/>
              </a:solidFill>
            </a:endParaRPr>
          </a:p>
          <a:p>
            <a:pPr marL="0" lvl="0" indent="0" algn="l" rtl="0">
              <a:spcBef>
                <a:spcPts val="1200"/>
              </a:spcBef>
              <a:spcAft>
                <a:spcPts val="1200"/>
              </a:spcAft>
              <a:buClr>
                <a:schemeClr val="dk1"/>
              </a:buClr>
              <a:buSzPts val="1100"/>
              <a:buFont typeface="Arial"/>
              <a:buNone/>
            </a:pPr>
            <a:r>
              <a:rPr lang="en" sz="1450">
                <a:solidFill>
                  <a:schemeClr val="dk1"/>
                </a:solidFill>
              </a:rPr>
              <a:t>We take immense pride in reporting that, under these sessions, we have covered 200+ schools and impacted the lives of 3000+ students.</a:t>
            </a:r>
            <a:endParaRPr sz="145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7"/>
          <p:cNvPicPr preferRelativeResize="0"/>
          <p:nvPr/>
        </p:nvPicPr>
        <p:blipFill rotWithShape="1">
          <a:blip r:embed="rId3">
            <a:alphaModFix/>
          </a:blip>
          <a:srcRect r="7484"/>
          <a:stretch/>
        </p:blipFill>
        <p:spPr>
          <a:xfrm>
            <a:off x="108250" y="1420850"/>
            <a:ext cx="4714875" cy="2548175"/>
          </a:xfrm>
          <a:prstGeom prst="rect">
            <a:avLst/>
          </a:prstGeom>
          <a:noFill/>
          <a:ln w="28575" cap="flat" cmpd="sng">
            <a:solidFill>
              <a:schemeClr val="lt1"/>
            </a:solidFill>
            <a:prstDash val="solid"/>
            <a:round/>
            <a:headEnd type="none" w="sm" len="sm"/>
            <a:tailEnd type="none" w="sm" len="sm"/>
          </a:ln>
        </p:spPr>
      </p:pic>
      <p:pic>
        <p:nvPicPr>
          <p:cNvPr id="85" name="Google Shape;85;p17"/>
          <p:cNvPicPr preferRelativeResize="0"/>
          <p:nvPr/>
        </p:nvPicPr>
        <p:blipFill rotWithShape="1">
          <a:blip r:embed="rId4">
            <a:alphaModFix/>
          </a:blip>
          <a:srcRect l="8466" t="6542" r="11057"/>
          <a:stretch/>
        </p:blipFill>
        <p:spPr>
          <a:xfrm>
            <a:off x="4914134" y="1420850"/>
            <a:ext cx="4154890" cy="2548175"/>
          </a:xfrm>
          <a:prstGeom prst="rect">
            <a:avLst/>
          </a:prstGeom>
          <a:noFill/>
          <a:ln w="28575" cap="flat" cmpd="sng">
            <a:solidFill>
              <a:schemeClr val="lt1"/>
            </a:solidFill>
            <a:prstDash val="solid"/>
            <a:round/>
            <a:headEnd type="none" w="sm" len="sm"/>
            <a:tailEnd type="none" w="sm" len="sm"/>
          </a:ln>
        </p:spPr>
      </p:pic>
      <p:sp>
        <p:nvSpPr>
          <p:cNvPr id="86" name="Google Shape;86;p17"/>
          <p:cNvSpPr txBox="1"/>
          <p:nvPr/>
        </p:nvSpPr>
        <p:spPr>
          <a:xfrm>
            <a:off x="2528900" y="471500"/>
            <a:ext cx="64401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i="1"/>
              <a:t>Virtual Awareness Sessions</a:t>
            </a:r>
            <a:endParaRPr sz="2500" i="1"/>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1" name="Google Shape;91;p18" descr="Forms response chart. Question title: लिंग/Gender. Number of responses: 217 responses."/>
          <p:cNvPicPr preferRelativeResize="0"/>
          <p:nvPr/>
        </p:nvPicPr>
        <p:blipFill rotWithShape="1">
          <a:blip r:embed="rId3">
            <a:alphaModFix/>
          </a:blip>
          <a:srcRect r="20741"/>
          <a:stretch/>
        </p:blipFill>
        <p:spPr>
          <a:xfrm>
            <a:off x="1069225" y="711838"/>
            <a:ext cx="7005526" cy="3719825"/>
          </a:xfrm>
          <a:prstGeom prst="rect">
            <a:avLst/>
          </a:prstGeom>
          <a:noFill/>
          <a:ln>
            <a:noFill/>
          </a:ln>
        </p:spPr>
      </p:pic>
      <p:sp>
        <p:nvSpPr>
          <p:cNvPr id="92" name="Google Shape;92;p18"/>
          <p:cNvSpPr txBox="1"/>
          <p:nvPr/>
        </p:nvSpPr>
        <p:spPr>
          <a:xfrm>
            <a:off x="1459038" y="142450"/>
            <a:ext cx="6225900" cy="569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500" i="1"/>
              <a:t>Composition of Attendees</a:t>
            </a:r>
            <a:endParaRPr sz="2500" i="1"/>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9"/>
          <p:cNvSpPr txBox="1">
            <a:spLocks noGrp="1"/>
          </p:cNvSpPr>
          <p:nvPr>
            <p:ph type="title"/>
          </p:nvPr>
        </p:nvSpPr>
        <p:spPr>
          <a:xfrm>
            <a:off x="549925" y="348600"/>
            <a:ext cx="7443900" cy="669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 sz="2550" i="1">
                <a:solidFill>
                  <a:srgbClr val="000000"/>
                </a:solidFill>
              </a:rPr>
              <a:t>Feedback for the Session</a:t>
            </a:r>
            <a:endParaRPr sz="2550" i="1">
              <a:solidFill>
                <a:srgbClr val="000000"/>
              </a:solidFill>
            </a:endParaRPr>
          </a:p>
          <a:p>
            <a:pPr marL="0" lvl="0" indent="0" algn="l" rtl="0">
              <a:spcBef>
                <a:spcPts val="0"/>
              </a:spcBef>
              <a:spcAft>
                <a:spcPts val="0"/>
              </a:spcAft>
              <a:buSzPts val="990"/>
              <a:buNone/>
            </a:pPr>
            <a:endParaRPr sz="1950" i="1"/>
          </a:p>
        </p:txBody>
      </p:sp>
      <p:pic>
        <p:nvPicPr>
          <p:cNvPr id="98" name="Google Shape;98;p19" descr="Forms response chart. Question title: हमारे द्वारा दी गई जानकारी कितनी उपयोगी थी?/How helpful was the information provided by us?. Number of responses: 653 responses."/>
          <p:cNvPicPr preferRelativeResize="0"/>
          <p:nvPr/>
        </p:nvPicPr>
        <p:blipFill>
          <a:blip r:embed="rId3">
            <a:alphaModFix/>
          </a:blip>
          <a:stretch>
            <a:fillRect/>
          </a:stretch>
        </p:blipFill>
        <p:spPr>
          <a:xfrm>
            <a:off x="549925" y="1183550"/>
            <a:ext cx="8044157" cy="382097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0"/>
          <p:cNvSpPr txBox="1">
            <a:spLocks noGrp="1"/>
          </p:cNvSpPr>
          <p:nvPr>
            <p:ph type="title"/>
          </p:nvPr>
        </p:nvSpPr>
        <p:spPr>
          <a:xfrm>
            <a:off x="311700" y="322150"/>
            <a:ext cx="85206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1200"/>
              </a:spcBef>
              <a:spcAft>
                <a:spcPts val="0"/>
              </a:spcAft>
              <a:buClr>
                <a:schemeClr val="dk1"/>
              </a:buClr>
              <a:buSzPct val="50000"/>
              <a:buFont typeface="Arial"/>
              <a:buNone/>
            </a:pPr>
            <a:r>
              <a:rPr lang="en" sz="2200" i="1"/>
              <a:t>Description of the Sessions </a:t>
            </a:r>
            <a:endParaRPr/>
          </a:p>
          <a:p>
            <a:pPr marL="0" lvl="0" indent="0" algn="l" rtl="0">
              <a:spcBef>
                <a:spcPts val="1200"/>
              </a:spcBef>
              <a:spcAft>
                <a:spcPts val="0"/>
              </a:spcAft>
              <a:buNone/>
            </a:pPr>
            <a:endParaRPr/>
          </a:p>
        </p:txBody>
      </p:sp>
      <p:sp>
        <p:nvSpPr>
          <p:cNvPr id="104" name="Google Shape;104;p20"/>
          <p:cNvSpPr txBox="1">
            <a:spLocks noGrp="1"/>
          </p:cNvSpPr>
          <p:nvPr>
            <p:ph type="body" idx="1"/>
          </p:nvPr>
        </p:nvSpPr>
        <p:spPr>
          <a:xfrm>
            <a:off x="311700" y="1047150"/>
            <a:ext cx="8520600" cy="3416400"/>
          </a:xfrm>
          <a:prstGeom prst="rect">
            <a:avLst/>
          </a:prstGeom>
        </p:spPr>
        <p:txBody>
          <a:bodyPr spcFirstLastPara="1" wrap="square" lIns="91425" tIns="91425" rIns="91425" bIns="91425" anchor="t" anchorCtr="0">
            <a:normAutofit lnSpcReduction="20000"/>
          </a:bodyPr>
          <a:lstStyle/>
          <a:p>
            <a:pPr marL="0" lvl="0" indent="0" algn="l" rtl="0">
              <a:spcBef>
                <a:spcPts val="1200"/>
              </a:spcBef>
              <a:spcAft>
                <a:spcPts val="0"/>
              </a:spcAft>
              <a:buNone/>
            </a:pPr>
            <a:r>
              <a:rPr lang="en" sz="2005" i="1" u="sng">
                <a:solidFill>
                  <a:schemeClr val="dk1"/>
                </a:solidFill>
                <a:latin typeface="Times New Roman"/>
                <a:ea typeface="Times New Roman"/>
                <a:cs typeface="Times New Roman"/>
                <a:sym typeface="Times New Roman"/>
              </a:rPr>
              <a:t>Girls’ Sessions</a:t>
            </a:r>
            <a:r>
              <a:rPr lang="en" sz="2005" b="1">
                <a:solidFill>
                  <a:schemeClr val="dk1"/>
                </a:solidFill>
                <a:latin typeface="Times New Roman"/>
                <a:ea typeface="Times New Roman"/>
                <a:cs typeface="Times New Roman"/>
                <a:sym typeface="Times New Roman"/>
              </a:rPr>
              <a:t> </a:t>
            </a:r>
            <a:endParaRPr sz="2005" b="1">
              <a:solidFill>
                <a:schemeClr val="dk1"/>
              </a:solidFill>
              <a:latin typeface="Times New Roman"/>
              <a:ea typeface="Times New Roman"/>
              <a:cs typeface="Times New Roman"/>
              <a:sym typeface="Times New Roman"/>
            </a:endParaRPr>
          </a:p>
          <a:p>
            <a:pPr marL="0" lvl="0" indent="0" algn="l" rtl="0">
              <a:spcBef>
                <a:spcPts val="1200"/>
              </a:spcBef>
              <a:spcAft>
                <a:spcPts val="1200"/>
              </a:spcAft>
              <a:buClr>
                <a:schemeClr val="dk1"/>
              </a:buClr>
              <a:buSzPts val="1100"/>
              <a:buFont typeface="Arial"/>
              <a:buNone/>
            </a:pPr>
            <a:r>
              <a:rPr lang="en" sz="1625">
                <a:solidFill>
                  <a:schemeClr val="dk1"/>
                </a:solidFill>
              </a:rPr>
              <a:t>The session commenced with ice breaker rounds where some simple games were played which allowed the participants to be interactive throughout the session. The script drafted for the girls was very impactful and covered extremely crucial topics relating to menstrual awareness. The entire menstrual process, puberty and bodily changes, premenstrual syndrome, proper use and disposal of pads, period tracking, PCOS, nutritional intake and importance of exercise were discussed in great detail. The girls were also made aware about certain myths and taboos related to the topic. After the speaker session, the question &amp; answer round began. The girls of classes 6-7 were a little hesitant in asking questions, so the speakers ensured that they were comfortable. However, the girls of classes 10-12 were very interactive and asked several questions related to periods, the pain and discomfort involved in it and the usage of pads. </a:t>
            </a:r>
            <a:endParaRPr sz="222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1"/>
          <p:cNvSpPr txBox="1">
            <a:spLocks noGrp="1"/>
          </p:cNvSpPr>
          <p:nvPr>
            <p:ph type="title"/>
          </p:nvPr>
        </p:nvSpPr>
        <p:spPr>
          <a:xfrm>
            <a:off x="451025" y="1557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i="1"/>
              <a:t>Interaction in the Sessions</a:t>
            </a:r>
            <a:endParaRPr i="1"/>
          </a:p>
        </p:txBody>
      </p:sp>
      <p:pic>
        <p:nvPicPr>
          <p:cNvPr id="110" name="Google Shape;110;p21"/>
          <p:cNvPicPr preferRelativeResize="0"/>
          <p:nvPr/>
        </p:nvPicPr>
        <p:blipFill rotWithShape="1">
          <a:blip r:embed="rId3">
            <a:alphaModFix/>
          </a:blip>
          <a:srcRect l="18987" r="26040"/>
          <a:stretch/>
        </p:blipFill>
        <p:spPr>
          <a:xfrm>
            <a:off x="1425175" y="846300"/>
            <a:ext cx="1638026" cy="3973376"/>
          </a:xfrm>
          <a:prstGeom prst="rect">
            <a:avLst/>
          </a:prstGeom>
          <a:noFill/>
          <a:ln w="28575" cap="flat" cmpd="sng">
            <a:solidFill>
              <a:schemeClr val="lt1"/>
            </a:solidFill>
            <a:prstDash val="solid"/>
            <a:round/>
            <a:headEnd type="none" w="sm" len="sm"/>
            <a:tailEnd type="none" w="sm" len="sm"/>
          </a:ln>
        </p:spPr>
      </p:pic>
      <p:pic>
        <p:nvPicPr>
          <p:cNvPr id="111" name="Google Shape;111;p21"/>
          <p:cNvPicPr preferRelativeResize="0"/>
          <p:nvPr/>
        </p:nvPicPr>
        <p:blipFill rotWithShape="1">
          <a:blip r:embed="rId4">
            <a:alphaModFix/>
          </a:blip>
          <a:srcRect l="28334" t="12563" r="27169" b="10596"/>
          <a:stretch/>
        </p:blipFill>
        <p:spPr>
          <a:xfrm>
            <a:off x="5798600" y="803425"/>
            <a:ext cx="1725634" cy="3973376"/>
          </a:xfrm>
          <a:prstGeom prst="rect">
            <a:avLst/>
          </a:prstGeom>
          <a:noFill/>
          <a:ln w="28575" cap="flat" cmpd="sng">
            <a:solidFill>
              <a:schemeClr val="lt1"/>
            </a:solidFill>
            <a:prstDash val="solid"/>
            <a:round/>
            <a:headEnd type="none" w="sm" len="sm"/>
            <a:tailEnd type="none" w="sm" len="sm"/>
          </a:ln>
        </p:spPr>
      </p:pic>
      <p:pic>
        <p:nvPicPr>
          <p:cNvPr id="112" name="Google Shape;112;p21"/>
          <p:cNvPicPr preferRelativeResize="0"/>
          <p:nvPr/>
        </p:nvPicPr>
        <p:blipFill rotWithShape="1">
          <a:blip r:embed="rId5">
            <a:alphaModFix/>
          </a:blip>
          <a:srcRect l="21461" t="13688" r="10943"/>
          <a:stretch/>
        </p:blipFill>
        <p:spPr>
          <a:xfrm>
            <a:off x="3439700" y="1355400"/>
            <a:ext cx="1982399" cy="3298024"/>
          </a:xfrm>
          <a:prstGeom prst="rect">
            <a:avLst/>
          </a:prstGeom>
          <a:noFill/>
          <a:ln w="28575" cap="flat" cmpd="sng">
            <a:solidFill>
              <a:schemeClr val="lt1"/>
            </a:solidFill>
            <a:prstDash val="solid"/>
            <a:round/>
            <a:headEnd type="none" w="sm" len="sm"/>
            <a:tailEnd type="none" w="sm" len="sm"/>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1200"/>
              </a:spcBef>
              <a:spcAft>
                <a:spcPts val="1200"/>
              </a:spcAft>
              <a:buClr>
                <a:schemeClr val="dk1"/>
              </a:buClr>
              <a:buSzPct val="49124"/>
              <a:buFont typeface="Arial"/>
              <a:buNone/>
            </a:pPr>
            <a:r>
              <a:rPr lang="en" sz="2239" i="1" u="sng">
                <a:latin typeface="Times New Roman"/>
                <a:ea typeface="Times New Roman"/>
                <a:cs typeface="Times New Roman"/>
                <a:sym typeface="Times New Roman"/>
              </a:rPr>
              <a:t>Boys’ Sessions</a:t>
            </a:r>
            <a:r>
              <a:rPr lang="en" sz="2239" b="1">
                <a:latin typeface="Times New Roman"/>
                <a:ea typeface="Times New Roman"/>
                <a:cs typeface="Times New Roman"/>
                <a:sym typeface="Times New Roman"/>
              </a:rPr>
              <a:t>  </a:t>
            </a:r>
            <a:endParaRPr sz="3133"/>
          </a:p>
        </p:txBody>
      </p:sp>
      <p:sp>
        <p:nvSpPr>
          <p:cNvPr id="118" name="Google Shape;118;p2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1200"/>
              </a:spcBef>
              <a:spcAft>
                <a:spcPts val="1200"/>
              </a:spcAft>
              <a:buClr>
                <a:schemeClr val="dk1"/>
              </a:buClr>
              <a:buSzPts val="1100"/>
              <a:buFont typeface="Arial"/>
              <a:buNone/>
            </a:pPr>
            <a:r>
              <a:rPr lang="en" sz="1600">
                <a:solidFill>
                  <a:schemeClr val="dk1"/>
                </a:solidFill>
              </a:rPr>
              <a:t>The boys’ sessions kicked off in the same way as the girls’. They were interactive during the ice breaker rounds. The boys’ were asked if they had ever heard about menstruation and the topic was introduced to them slowly. The process of menstruation was told to them in a story based format to make them understand the concept better. The speaker discussed menstruation and the taboos and myths related to the topic. The boys were made to understand that the process was just as normal as any other process of the body. Myths and taboos were discussed in detail in the boys’ sessions. The boys’ were made aware of their responsibilities towards girls and women during the time of their menstruation. The question &amp; answer began after the speaker completed. </a:t>
            </a:r>
            <a:endParaRPr sz="22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1200"/>
              </a:spcBef>
              <a:spcAft>
                <a:spcPts val="1200"/>
              </a:spcAft>
              <a:buClr>
                <a:schemeClr val="dk1"/>
              </a:buClr>
              <a:buSzPct val="50000"/>
              <a:buFont typeface="Arial"/>
              <a:buNone/>
            </a:pPr>
            <a:r>
              <a:rPr lang="en" sz="2200" i="1"/>
              <a:t>Topics Covered  </a:t>
            </a:r>
            <a:endParaRPr/>
          </a:p>
        </p:txBody>
      </p:sp>
      <p:sp>
        <p:nvSpPr>
          <p:cNvPr id="124" name="Google Shape;124;p2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Clr>
                <a:schemeClr val="dk1"/>
              </a:buClr>
              <a:buSzPts val="1100"/>
              <a:buFont typeface="Arial"/>
              <a:buNone/>
            </a:pPr>
            <a:r>
              <a:rPr lang="en" sz="1500">
                <a:solidFill>
                  <a:schemeClr val="dk1"/>
                </a:solidFill>
              </a:rPr>
              <a:t>By the end of the session, the various topics of information with which</a:t>
            </a:r>
            <a:r>
              <a:rPr lang="en" sz="1500" b="1">
                <a:solidFill>
                  <a:schemeClr val="dk1"/>
                </a:solidFill>
              </a:rPr>
              <a:t> girls</a:t>
            </a:r>
            <a:r>
              <a:rPr lang="en" sz="1500">
                <a:solidFill>
                  <a:schemeClr val="dk1"/>
                </a:solidFill>
              </a:rPr>
              <a:t> were familiarised included ;</a:t>
            </a:r>
            <a:endParaRPr sz="1500">
              <a:solidFill>
                <a:schemeClr val="dk1"/>
              </a:solidFill>
            </a:endParaRPr>
          </a:p>
          <a:p>
            <a:pPr marL="457200" lvl="0" indent="-323850" algn="l" rtl="0">
              <a:spcBef>
                <a:spcPts val="1200"/>
              </a:spcBef>
              <a:spcAft>
                <a:spcPts val="0"/>
              </a:spcAft>
              <a:buClr>
                <a:schemeClr val="dk1"/>
              </a:buClr>
              <a:buSzPts val="1500"/>
              <a:buChar char="●"/>
            </a:pPr>
            <a:r>
              <a:rPr lang="en" sz="1500">
                <a:solidFill>
                  <a:schemeClr val="dk1"/>
                </a:solidFill>
              </a:rPr>
              <a:t>Menstrual hygiene management</a:t>
            </a:r>
            <a:endParaRPr sz="1500">
              <a:solidFill>
                <a:schemeClr val="dk1"/>
              </a:solidFill>
            </a:endParaRPr>
          </a:p>
          <a:p>
            <a:pPr marL="457200" lvl="0" indent="-323850" algn="l" rtl="0">
              <a:spcBef>
                <a:spcPts val="0"/>
              </a:spcBef>
              <a:spcAft>
                <a:spcPts val="0"/>
              </a:spcAft>
              <a:buClr>
                <a:schemeClr val="dk1"/>
              </a:buClr>
              <a:buSzPts val="1500"/>
              <a:buChar char="●"/>
            </a:pPr>
            <a:r>
              <a:rPr lang="en" sz="1500">
                <a:solidFill>
                  <a:schemeClr val="dk1"/>
                </a:solidFill>
              </a:rPr>
              <a:t>Basics of menstrual cycle</a:t>
            </a:r>
            <a:endParaRPr sz="1500">
              <a:solidFill>
                <a:schemeClr val="dk1"/>
              </a:solidFill>
            </a:endParaRPr>
          </a:p>
          <a:p>
            <a:pPr marL="457200" lvl="0" indent="-323850" algn="l" rtl="0">
              <a:spcBef>
                <a:spcPts val="0"/>
              </a:spcBef>
              <a:spcAft>
                <a:spcPts val="0"/>
              </a:spcAft>
              <a:buClr>
                <a:schemeClr val="dk1"/>
              </a:buClr>
              <a:buSzPts val="1500"/>
              <a:buChar char="●"/>
            </a:pPr>
            <a:r>
              <a:rPr lang="en" sz="1500">
                <a:solidFill>
                  <a:schemeClr val="dk1"/>
                </a:solidFill>
              </a:rPr>
              <a:t>Puberty and bodily changes</a:t>
            </a:r>
            <a:endParaRPr sz="1500">
              <a:solidFill>
                <a:schemeClr val="dk1"/>
              </a:solidFill>
            </a:endParaRPr>
          </a:p>
          <a:p>
            <a:pPr marL="457200" lvl="0" indent="-323850" algn="l" rtl="0">
              <a:spcBef>
                <a:spcPts val="0"/>
              </a:spcBef>
              <a:spcAft>
                <a:spcPts val="0"/>
              </a:spcAft>
              <a:buClr>
                <a:schemeClr val="dk1"/>
              </a:buClr>
              <a:buSzPts val="1500"/>
              <a:buChar char="●"/>
            </a:pPr>
            <a:r>
              <a:rPr lang="en" sz="1500">
                <a:solidFill>
                  <a:schemeClr val="dk1"/>
                </a:solidFill>
              </a:rPr>
              <a:t>Premenstrual Syndrome</a:t>
            </a:r>
            <a:endParaRPr sz="1500">
              <a:solidFill>
                <a:schemeClr val="dk1"/>
              </a:solidFill>
            </a:endParaRPr>
          </a:p>
          <a:p>
            <a:pPr marL="457200" lvl="0" indent="-323850" algn="l" rtl="0">
              <a:spcBef>
                <a:spcPts val="0"/>
              </a:spcBef>
              <a:spcAft>
                <a:spcPts val="0"/>
              </a:spcAft>
              <a:buClr>
                <a:schemeClr val="dk1"/>
              </a:buClr>
              <a:buSzPts val="1500"/>
              <a:buChar char="●"/>
            </a:pPr>
            <a:r>
              <a:rPr lang="en" sz="1500">
                <a:solidFill>
                  <a:schemeClr val="dk1"/>
                </a:solidFill>
              </a:rPr>
              <a:t>Period tracking</a:t>
            </a:r>
            <a:endParaRPr sz="1500">
              <a:solidFill>
                <a:schemeClr val="dk1"/>
              </a:solidFill>
            </a:endParaRPr>
          </a:p>
          <a:p>
            <a:pPr marL="457200" lvl="0" indent="-323850" algn="l" rtl="0">
              <a:spcBef>
                <a:spcPts val="0"/>
              </a:spcBef>
              <a:spcAft>
                <a:spcPts val="0"/>
              </a:spcAft>
              <a:buClr>
                <a:schemeClr val="dk1"/>
              </a:buClr>
              <a:buSzPts val="1500"/>
              <a:buChar char="●"/>
            </a:pPr>
            <a:r>
              <a:rPr lang="en" sz="1500">
                <a:solidFill>
                  <a:schemeClr val="dk1"/>
                </a:solidFill>
              </a:rPr>
              <a:t>Nutritional intake</a:t>
            </a:r>
            <a:endParaRPr sz="1500">
              <a:solidFill>
                <a:schemeClr val="dk1"/>
              </a:solidFill>
            </a:endParaRPr>
          </a:p>
          <a:p>
            <a:pPr marL="457200" lvl="0" indent="-323850" algn="l" rtl="0">
              <a:spcBef>
                <a:spcPts val="0"/>
              </a:spcBef>
              <a:spcAft>
                <a:spcPts val="0"/>
              </a:spcAft>
              <a:buClr>
                <a:schemeClr val="dk1"/>
              </a:buClr>
              <a:buSzPts val="1500"/>
              <a:buChar char="●"/>
            </a:pPr>
            <a:r>
              <a:rPr lang="en" sz="1500">
                <a:solidFill>
                  <a:schemeClr val="dk1"/>
                </a:solidFill>
              </a:rPr>
              <a:t>Breaking myths and taboos related to the topic</a:t>
            </a:r>
            <a:endParaRPr sz="1500">
              <a:solidFill>
                <a:schemeClr val="dk1"/>
              </a:solidFill>
            </a:endParaRPr>
          </a:p>
          <a:p>
            <a:pPr marL="457200" lvl="0" indent="-323850" algn="l" rtl="0">
              <a:spcBef>
                <a:spcPts val="0"/>
              </a:spcBef>
              <a:spcAft>
                <a:spcPts val="0"/>
              </a:spcAft>
              <a:buClr>
                <a:schemeClr val="dk1"/>
              </a:buClr>
              <a:buSzPts val="1500"/>
              <a:buChar char="●"/>
            </a:pPr>
            <a:r>
              <a:rPr lang="en" sz="1500">
                <a:solidFill>
                  <a:schemeClr val="dk1"/>
                </a:solidFill>
              </a:rPr>
              <a:t>The analysis of menstrual products available in the market </a:t>
            </a:r>
            <a:endParaRPr sz="1500">
              <a:solidFill>
                <a:schemeClr val="dk1"/>
              </a:solidFill>
            </a:endParaRPr>
          </a:p>
          <a:p>
            <a:pPr marL="457200" lvl="0" indent="-323850" algn="l" rtl="0">
              <a:spcBef>
                <a:spcPts val="0"/>
              </a:spcBef>
              <a:spcAft>
                <a:spcPts val="0"/>
              </a:spcAft>
              <a:buClr>
                <a:schemeClr val="dk1"/>
              </a:buClr>
              <a:buSzPts val="1500"/>
              <a:buChar char="●"/>
            </a:pPr>
            <a:r>
              <a:rPr lang="en" sz="1500">
                <a:solidFill>
                  <a:schemeClr val="dk1"/>
                </a:solidFill>
              </a:rPr>
              <a:t>Choices available to the menstruators regarding their sexual and reproductive health</a:t>
            </a:r>
            <a:endParaRPr sz="1500">
              <a:solidFill>
                <a:schemeClr val="dk1"/>
              </a:solidFill>
            </a:endParaRPr>
          </a:p>
          <a:p>
            <a:pPr marL="457200" lvl="0" indent="-323850" algn="l" rtl="0">
              <a:spcBef>
                <a:spcPts val="0"/>
              </a:spcBef>
              <a:spcAft>
                <a:spcPts val="0"/>
              </a:spcAft>
              <a:buClr>
                <a:schemeClr val="dk1"/>
              </a:buClr>
              <a:buSzPts val="1500"/>
              <a:buChar char="●"/>
            </a:pPr>
            <a:r>
              <a:rPr lang="en" sz="1500">
                <a:solidFill>
                  <a:schemeClr val="dk1"/>
                </a:solidFill>
              </a:rPr>
              <a:t>Various health disorders</a:t>
            </a:r>
            <a:endParaRPr sz="2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4"/>
          <p:cNvSpPr txBox="1">
            <a:spLocks noGrp="1"/>
          </p:cNvSpPr>
          <p:nvPr>
            <p:ph type="body" idx="1"/>
          </p:nvPr>
        </p:nvSpPr>
        <p:spPr>
          <a:xfrm>
            <a:off x="311700" y="614875"/>
            <a:ext cx="8520600" cy="4138200"/>
          </a:xfrm>
          <a:prstGeom prst="rect">
            <a:avLst/>
          </a:prstGeom>
        </p:spPr>
        <p:txBody>
          <a:bodyPr spcFirstLastPara="1" wrap="square" lIns="91425" tIns="91425" rIns="91425" bIns="91425" anchor="t" anchorCtr="0">
            <a:normAutofit/>
          </a:bodyPr>
          <a:lstStyle/>
          <a:p>
            <a:pPr marL="0" lvl="0" indent="0" algn="l" rtl="0">
              <a:spcBef>
                <a:spcPts val="1200"/>
              </a:spcBef>
              <a:spcAft>
                <a:spcPts val="0"/>
              </a:spcAft>
              <a:buClr>
                <a:schemeClr val="dk1"/>
              </a:buClr>
              <a:buSzPts val="1100"/>
              <a:buFont typeface="Arial"/>
              <a:buNone/>
            </a:pPr>
            <a:r>
              <a:rPr lang="en" sz="1500">
                <a:solidFill>
                  <a:schemeClr val="dk1"/>
                </a:solidFill>
              </a:rPr>
              <a:t>By the end of the session, the various topics of information with which</a:t>
            </a:r>
            <a:r>
              <a:rPr lang="en" sz="1500" b="1">
                <a:solidFill>
                  <a:schemeClr val="dk1"/>
                </a:solidFill>
              </a:rPr>
              <a:t> boys</a:t>
            </a:r>
            <a:r>
              <a:rPr lang="en" sz="1500">
                <a:solidFill>
                  <a:schemeClr val="dk1"/>
                </a:solidFill>
              </a:rPr>
              <a:t> were familiarised included ;</a:t>
            </a:r>
            <a:endParaRPr sz="1500">
              <a:solidFill>
                <a:schemeClr val="dk1"/>
              </a:solidFill>
            </a:endParaRPr>
          </a:p>
          <a:p>
            <a:pPr marL="457200" lvl="0" indent="-330200" algn="l" rtl="0">
              <a:spcBef>
                <a:spcPts val="1200"/>
              </a:spcBef>
              <a:spcAft>
                <a:spcPts val="0"/>
              </a:spcAft>
              <a:buClr>
                <a:schemeClr val="dk1"/>
              </a:buClr>
              <a:buSzPts val="1600"/>
              <a:buChar char="●"/>
            </a:pPr>
            <a:r>
              <a:rPr lang="en" sz="1600">
                <a:solidFill>
                  <a:schemeClr val="dk1"/>
                </a:solidFill>
              </a:rPr>
              <a:t>The process of menstruation</a:t>
            </a:r>
            <a:endParaRPr sz="1600">
              <a:solidFill>
                <a:schemeClr val="dk1"/>
              </a:solidFill>
            </a:endParaRPr>
          </a:p>
          <a:p>
            <a:pPr marL="457200" lvl="0" indent="-330200" algn="l" rtl="0">
              <a:spcBef>
                <a:spcPts val="0"/>
              </a:spcBef>
              <a:spcAft>
                <a:spcPts val="0"/>
              </a:spcAft>
              <a:buClr>
                <a:schemeClr val="dk1"/>
              </a:buClr>
              <a:buSzPts val="1600"/>
              <a:buChar char="●"/>
            </a:pPr>
            <a:r>
              <a:rPr lang="en" sz="1600">
                <a:solidFill>
                  <a:schemeClr val="dk1"/>
                </a:solidFill>
              </a:rPr>
              <a:t>The myths and facts</a:t>
            </a:r>
            <a:endParaRPr sz="1600">
              <a:solidFill>
                <a:schemeClr val="dk1"/>
              </a:solidFill>
            </a:endParaRPr>
          </a:p>
          <a:p>
            <a:pPr marL="457200" lvl="0" indent="-330200" algn="l" rtl="0">
              <a:spcBef>
                <a:spcPts val="0"/>
              </a:spcBef>
              <a:spcAft>
                <a:spcPts val="0"/>
              </a:spcAft>
              <a:buClr>
                <a:schemeClr val="dk1"/>
              </a:buClr>
              <a:buSzPts val="1600"/>
              <a:buChar char="●"/>
            </a:pPr>
            <a:r>
              <a:rPr lang="en" sz="1600">
                <a:solidFill>
                  <a:schemeClr val="dk1"/>
                </a:solidFill>
              </a:rPr>
              <a:t>Ways to help their mothers/sisters/friends in these times thereby making them more sensitive to the needs of others along with being a responsible citizen.</a:t>
            </a:r>
            <a:endParaRPr sz="19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1200"/>
              </a:spcBef>
              <a:spcAft>
                <a:spcPts val="0"/>
              </a:spcAft>
              <a:buClr>
                <a:schemeClr val="dk1"/>
              </a:buClr>
              <a:buSzPct val="50000"/>
              <a:buFont typeface="Arial"/>
              <a:buNone/>
            </a:pPr>
            <a:r>
              <a:rPr lang="en" sz="2200" i="1"/>
              <a:t>Analysis of the Question &amp; Answer Round  </a:t>
            </a:r>
            <a:endParaRPr/>
          </a:p>
          <a:p>
            <a:pPr marL="0" lvl="0" indent="0" algn="l" rtl="0">
              <a:spcBef>
                <a:spcPts val="1200"/>
              </a:spcBef>
              <a:spcAft>
                <a:spcPts val="0"/>
              </a:spcAft>
              <a:buNone/>
            </a:pPr>
            <a:endParaRPr/>
          </a:p>
        </p:txBody>
      </p:sp>
      <p:sp>
        <p:nvSpPr>
          <p:cNvPr id="135" name="Google Shape;135;p2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Clr>
                <a:schemeClr val="dk1"/>
              </a:buClr>
              <a:buSzPts val="1100"/>
              <a:buFont typeface="Arial"/>
              <a:buNone/>
            </a:pPr>
            <a:r>
              <a:rPr lang="en" sz="1500">
                <a:solidFill>
                  <a:schemeClr val="dk1"/>
                </a:solidFill>
              </a:rPr>
              <a:t>Certain questions that were asked frequently during the sessions were - </a:t>
            </a:r>
            <a:endParaRPr sz="1500">
              <a:solidFill>
                <a:schemeClr val="dk1"/>
              </a:solidFill>
            </a:endParaRPr>
          </a:p>
          <a:p>
            <a:pPr marL="457200" lvl="0" indent="-323850" algn="l" rtl="0">
              <a:spcBef>
                <a:spcPts val="1200"/>
              </a:spcBef>
              <a:spcAft>
                <a:spcPts val="0"/>
              </a:spcAft>
              <a:buClr>
                <a:schemeClr val="dk1"/>
              </a:buClr>
              <a:buSzPts val="1500"/>
              <a:buChar char="●"/>
            </a:pPr>
            <a:r>
              <a:rPr lang="en" sz="1500">
                <a:solidFill>
                  <a:schemeClr val="dk1"/>
                </a:solidFill>
              </a:rPr>
              <a:t>Where do periods occur and why does it hurt during menstruation?</a:t>
            </a:r>
            <a:endParaRPr sz="1500">
              <a:solidFill>
                <a:schemeClr val="dk1"/>
              </a:solidFill>
            </a:endParaRPr>
          </a:p>
          <a:p>
            <a:pPr marL="457200" lvl="0" indent="-323850" algn="l" rtl="0">
              <a:spcBef>
                <a:spcPts val="0"/>
              </a:spcBef>
              <a:spcAft>
                <a:spcPts val="0"/>
              </a:spcAft>
              <a:buClr>
                <a:schemeClr val="dk1"/>
              </a:buClr>
              <a:buSzPts val="1500"/>
              <a:buChar char="●"/>
            </a:pPr>
            <a:r>
              <a:rPr lang="en" sz="1500">
                <a:solidFill>
                  <a:schemeClr val="dk1"/>
                </a:solidFill>
              </a:rPr>
              <a:t>Why doesn’t period happen to boys?</a:t>
            </a:r>
            <a:endParaRPr sz="1500">
              <a:solidFill>
                <a:schemeClr val="dk1"/>
              </a:solidFill>
            </a:endParaRPr>
          </a:p>
          <a:p>
            <a:pPr marL="457200" lvl="0" indent="-323850" algn="l" rtl="0">
              <a:spcBef>
                <a:spcPts val="0"/>
              </a:spcBef>
              <a:spcAft>
                <a:spcPts val="0"/>
              </a:spcAft>
              <a:buClr>
                <a:schemeClr val="dk1"/>
              </a:buClr>
              <a:buSzPts val="1500"/>
              <a:buChar char="●"/>
            </a:pPr>
            <a:r>
              <a:rPr lang="en" sz="1500">
                <a:solidFill>
                  <a:schemeClr val="dk1"/>
                </a:solidFill>
              </a:rPr>
              <a:t>Why use a sanitary pad?</a:t>
            </a:r>
            <a:endParaRPr sz="1500">
              <a:solidFill>
                <a:schemeClr val="dk1"/>
              </a:solidFill>
            </a:endParaRPr>
          </a:p>
          <a:p>
            <a:pPr marL="457200" lvl="0" indent="-323850" algn="l" rtl="0">
              <a:spcBef>
                <a:spcPts val="0"/>
              </a:spcBef>
              <a:spcAft>
                <a:spcPts val="0"/>
              </a:spcAft>
              <a:buClr>
                <a:schemeClr val="dk1"/>
              </a:buClr>
              <a:buSzPts val="1500"/>
              <a:buChar char="●"/>
            </a:pPr>
            <a:r>
              <a:rPr lang="en" sz="1500">
                <a:solidFill>
                  <a:schemeClr val="dk1"/>
                </a:solidFill>
              </a:rPr>
              <a:t>How frequently do periods occur?</a:t>
            </a:r>
            <a:endParaRPr sz="1500">
              <a:solidFill>
                <a:schemeClr val="dk1"/>
              </a:solidFill>
            </a:endParaRPr>
          </a:p>
          <a:p>
            <a:pPr marL="457200" lvl="0" indent="-323850" algn="l" rtl="0">
              <a:spcBef>
                <a:spcPts val="0"/>
              </a:spcBef>
              <a:spcAft>
                <a:spcPts val="0"/>
              </a:spcAft>
              <a:buClr>
                <a:schemeClr val="dk1"/>
              </a:buClr>
              <a:buSzPts val="1500"/>
              <a:buChar char="●"/>
            </a:pPr>
            <a:r>
              <a:rPr lang="en" sz="1500">
                <a:solidFill>
                  <a:schemeClr val="dk1"/>
                </a:solidFill>
              </a:rPr>
              <a:t>How to identify if we have irregular periods and what steps are to be taken to regularise periods?</a:t>
            </a:r>
            <a:endParaRPr sz="1500">
              <a:solidFill>
                <a:schemeClr val="dk1"/>
              </a:solidFill>
            </a:endParaRPr>
          </a:p>
          <a:p>
            <a:pPr marL="457200" lvl="0" indent="-323850" algn="l" rtl="0">
              <a:spcBef>
                <a:spcPts val="0"/>
              </a:spcBef>
              <a:spcAft>
                <a:spcPts val="0"/>
              </a:spcAft>
              <a:buClr>
                <a:schemeClr val="dk1"/>
              </a:buClr>
              <a:buSzPts val="1500"/>
              <a:buChar char="●"/>
            </a:pPr>
            <a:r>
              <a:rPr lang="en" sz="1500">
                <a:solidFill>
                  <a:schemeClr val="dk1"/>
                </a:solidFill>
              </a:rPr>
              <a:t>What is PCOS?</a:t>
            </a:r>
            <a:endParaRPr sz="1500">
              <a:solidFill>
                <a:schemeClr val="dk1"/>
              </a:solidFill>
            </a:endParaRPr>
          </a:p>
          <a:p>
            <a:pPr marL="457200" lvl="0" indent="-323850" algn="l" rtl="0">
              <a:spcBef>
                <a:spcPts val="0"/>
              </a:spcBef>
              <a:spcAft>
                <a:spcPts val="0"/>
              </a:spcAft>
              <a:buClr>
                <a:schemeClr val="dk1"/>
              </a:buClr>
              <a:buSzPts val="1500"/>
              <a:buChar char="●"/>
            </a:pPr>
            <a:r>
              <a:rPr lang="en" sz="1500">
                <a:solidFill>
                  <a:schemeClr val="dk1"/>
                </a:solidFill>
              </a:rPr>
              <a:t>The misconceptions and taboos related to the topic like restriction on entering the place of worship, eating pickles and curd and avoiding exercise.</a:t>
            </a:r>
            <a:endParaRPr sz="1500">
              <a:solidFill>
                <a:schemeClr val="dk1"/>
              </a:solidFill>
            </a:endParaRPr>
          </a:p>
          <a:p>
            <a:pPr marL="457200" lvl="0" indent="-323850" algn="l" rtl="0">
              <a:spcBef>
                <a:spcPts val="0"/>
              </a:spcBef>
              <a:spcAft>
                <a:spcPts val="0"/>
              </a:spcAft>
              <a:buClr>
                <a:schemeClr val="dk1"/>
              </a:buClr>
              <a:buSzPts val="1500"/>
              <a:buChar char="●"/>
            </a:pPr>
            <a:r>
              <a:rPr lang="en" sz="1500">
                <a:solidFill>
                  <a:schemeClr val="dk1"/>
                </a:solidFill>
              </a:rPr>
              <a:t>What should be eaten during periods to stay healthy and how to maintain a balanced diet?</a:t>
            </a:r>
            <a:endParaRPr sz="1500">
              <a:solidFill>
                <a:schemeClr val="dk1"/>
              </a:solidFill>
            </a:endParaRPr>
          </a:p>
          <a:p>
            <a:pPr marL="457200" lvl="0" indent="-323850" algn="l" rtl="0">
              <a:spcBef>
                <a:spcPts val="0"/>
              </a:spcBef>
              <a:spcAft>
                <a:spcPts val="0"/>
              </a:spcAft>
              <a:buClr>
                <a:schemeClr val="dk1"/>
              </a:buClr>
              <a:buSzPts val="1500"/>
              <a:buChar char="●"/>
            </a:pPr>
            <a:r>
              <a:rPr lang="en" sz="1500">
                <a:solidFill>
                  <a:schemeClr val="dk1"/>
                </a:solidFill>
              </a:rPr>
              <a:t>Whether to exercise or not during menstruation?</a:t>
            </a:r>
            <a:endParaRPr sz="15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i="1"/>
              <a:t>Statistical Analysis of the Sessions</a:t>
            </a:r>
            <a:endParaRPr i="1"/>
          </a:p>
        </p:txBody>
      </p:sp>
      <p:pic>
        <p:nvPicPr>
          <p:cNvPr id="141" name="Google Shape;141;p26" descr="Forms response chart. Question title: क्या आपको मासिक धर्म चक्र समझ आ गया?/Did you understand the menstrual cycle?. Number of responses: 653 responses."/>
          <p:cNvPicPr preferRelativeResize="0"/>
          <p:nvPr/>
        </p:nvPicPr>
        <p:blipFill rotWithShape="1">
          <a:blip r:embed="rId3">
            <a:alphaModFix/>
          </a:blip>
          <a:srcRect r="16191"/>
          <a:stretch/>
        </p:blipFill>
        <p:spPr>
          <a:xfrm>
            <a:off x="1083688" y="1170150"/>
            <a:ext cx="6976625" cy="35033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pic>
        <p:nvPicPr>
          <p:cNvPr id="146" name="Google Shape;146;p27" descr="Forms response chart. Question title: क्या अब आप पीरियड्स के दौरान हाइजीन का महत्व जानते हैं ?/Do you now understand the importance of hygiene during periods?. Number of responses: 653 responses."/>
          <p:cNvPicPr preferRelativeResize="0"/>
          <p:nvPr/>
        </p:nvPicPr>
        <p:blipFill rotWithShape="1">
          <a:blip r:embed="rId3">
            <a:alphaModFix/>
          </a:blip>
          <a:srcRect r="1497"/>
          <a:stretch/>
        </p:blipFill>
        <p:spPr>
          <a:xfrm>
            <a:off x="483137" y="661263"/>
            <a:ext cx="8306275" cy="38209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pic>
        <p:nvPicPr>
          <p:cNvPr id="151" name="Google Shape;151;p28" descr="Forms response chart. Question title: क्या आप PCOS और पीरियड्स में अनियमितता से होने वाले नुकसान के बारे में जान गए हैं?/Are you now aware of PCOS and the harms caused by irregular periods?. Number of responses: 653 responses."/>
          <p:cNvPicPr preferRelativeResize="0"/>
          <p:nvPr/>
        </p:nvPicPr>
        <p:blipFill>
          <a:blip r:embed="rId3">
            <a:alphaModFix/>
          </a:blip>
          <a:stretch>
            <a:fillRect/>
          </a:stretch>
        </p:blipFill>
        <p:spPr>
          <a:xfrm>
            <a:off x="355750" y="661263"/>
            <a:ext cx="8432496" cy="38209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pic>
        <p:nvPicPr>
          <p:cNvPr id="156" name="Google Shape;156;p29" descr="Forms response chart. Question title: क्या अब आप समझ गए हैं कि मिथकों का कोई वैज्ञानिक आधार क्यों नहीं है?/Do you now understand why myths do not have any scientific grounds?. Number of responses: 653 responses."/>
          <p:cNvPicPr preferRelativeResize="0"/>
          <p:nvPr/>
        </p:nvPicPr>
        <p:blipFill rotWithShape="1">
          <a:blip r:embed="rId3">
            <a:alphaModFix/>
          </a:blip>
          <a:srcRect t="-4910" b="4910"/>
          <a:stretch/>
        </p:blipFill>
        <p:spPr>
          <a:xfrm>
            <a:off x="355750" y="473600"/>
            <a:ext cx="8432496" cy="38209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1200"/>
              </a:spcBef>
              <a:spcAft>
                <a:spcPts val="0"/>
              </a:spcAft>
              <a:buClr>
                <a:schemeClr val="dk1"/>
              </a:buClr>
              <a:buSzPct val="50000"/>
              <a:buFont typeface="Arial"/>
              <a:buNone/>
            </a:pPr>
            <a:r>
              <a:rPr lang="en" sz="2200" i="1"/>
              <a:t>Problems Faced  </a:t>
            </a:r>
            <a:endParaRPr/>
          </a:p>
          <a:p>
            <a:pPr marL="0" lvl="0" indent="0" algn="l" rtl="0">
              <a:spcBef>
                <a:spcPts val="1200"/>
              </a:spcBef>
              <a:spcAft>
                <a:spcPts val="0"/>
              </a:spcAft>
              <a:buClr>
                <a:schemeClr val="dk1"/>
              </a:buClr>
              <a:buSzPct val="39285"/>
              <a:buFont typeface="Arial"/>
              <a:buNone/>
            </a:pPr>
            <a:endParaRPr/>
          </a:p>
          <a:p>
            <a:pPr marL="0" lvl="0" indent="0" algn="l" rtl="0">
              <a:spcBef>
                <a:spcPts val="0"/>
              </a:spcBef>
              <a:spcAft>
                <a:spcPts val="0"/>
              </a:spcAft>
              <a:buNone/>
            </a:pPr>
            <a:endParaRPr/>
          </a:p>
        </p:txBody>
      </p:sp>
      <p:sp>
        <p:nvSpPr>
          <p:cNvPr id="162" name="Google Shape;162;p3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1200"/>
              </a:spcBef>
              <a:spcAft>
                <a:spcPts val="0"/>
              </a:spcAft>
              <a:buNone/>
            </a:pPr>
            <a:r>
              <a:rPr lang="en" sz="1400" i="1">
                <a:solidFill>
                  <a:schemeClr val="dk1"/>
                </a:solidFill>
              </a:rPr>
              <a:t>Technical issues </a:t>
            </a:r>
            <a:r>
              <a:rPr lang="en" sz="1400">
                <a:solidFill>
                  <a:schemeClr val="dk1"/>
                </a:solidFill>
              </a:rPr>
              <a:t>- There were students who faced technical issues and were not able to join or their connection was unstable. To tackle this, as an alternative, educational Youtube videos have been prepared for those to view who couldn’t attend the session properly.</a:t>
            </a:r>
            <a:endParaRPr sz="1400">
              <a:solidFill>
                <a:schemeClr val="dk1"/>
              </a:solidFill>
            </a:endParaRPr>
          </a:p>
          <a:p>
            <a:pPr marL="0" lvl="0" indent="0" algn="l" rtl="0">
              <a:spcBef>
                <a:spcPts val="1200"/>
              </a:spcBef>
              <a:spcAft>
                <a:spcPts val="0"/>
              </a:spcAft>
              <a:buNone/>
            </a:pPr>
            <a:r>
              <a:rPr lang="en" sz="1400" i="1">
                <a:solidFill>
                  <a:schemeClr val="dk1"/>
                </a:solidFill>
              </a:rPr>
              <a:t>Constraints faced due to online mode</a:t>
            </a:r>
            <a:r>
              <a:rPr lang="en" sz="1400">
                <a:solidFill>
                  <a:schemeClr val="dk1"/>
                </a:solidFill>
              </a:rPr>
              <a:t> - Due to the sessions being online, a personal level connection was not formed. To bridge the communication gap effectively the speakers used common examples to make the learning easier with the support of visuals shown through an elaborative PPT.</a:t>
            </a:r>
            <a:endParaRPr sz="1400">
              <a:solidFill>
                <a:schemeClr val="dk1"/>
              </a:solidFill>
            </a:endParaRPr>
          </a:p>
          <a:p>
            <a:pPr marL="0" lvl="0" indent="0" algn="l" rtl="0">
              <a:spcBef>
                <a:spcPts val="1200"/>
              </a:spcBef>
              <a:spcAft>
                <a:spcPts val="0"/>
              </a:spcAft>
              <a:buNone/>
            </a:pPr>
            <a:r>
              <a:rPr lang="en" sz="1400" i="1">
                <a:solidFill>
                  <a:schemeClr val="dk1"/>
                </a:solidFill>
              </a:rPr>
              <a:t>Questions specific to medical conditions</a:t>
            </a:r>
            <a:r>
              <a:rPr lang="en" sz="1400">
                <a:solidFill>
                  <a:schemeClr val="dk1"/>
                </a:solidFill>
              </a:rPr>
              <a:t> - The students were inquisitive and asked certain questions that the speakers were not equipped to answer as it required medical expertise. However, the speakers clearly advised the students to discuss it with their parents and further consult a doctor to attain more detailed knowledge. </a:t>
            </a:r>
            <a:endParaRPr sz="1200">
              <a:solidFill>
                <a:schemeClr val="dk1"/>
              </a:solidFill>
              <a:latin typeface="Times New Roman"/>
              <a:ea typeface="Times New Roman"/>
              <a:cs typeface="Times New Roman"/>
              <a:sym typeface="Times New Roman"/>
            </a:endParaRPr>
          </a:p>
          <a:p>
            <a:pPr marL="0" lvl="0" indent="0" algn="l" rtl="0">
              <a:spcBef>
                <a:spcPts val="1200"/>
              </a:spcBef>
              <a:spcAft>
                <a:spcPts val="1200"/>
              </a:spcAft>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31"/>
          <p:cNvSpPr txBox="1">
            <a:spLocks noGrp="1"/>
          </p:cNvSpPr>
          <p:nvPr>
            <p:ph type="title"/>
          </p:nvPr>
        </p:nvSpPr>
        <p:spPr>
          <a:xfrm>
            <a:off x="365250" y="209300"/>
            <a:ext cx="85206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1200"/>
              </a:spcBef>
              <a:spcAft>
                <a:spcPts val="0"/>
              </a:spcAft>
              <a:buClr>
                <a:schemeClr val="dk1"/>
              </a:buClr>
              <a:buSzPct val="50000"/>
              <a:buFont typeface="Arial"/>
              <a:buNone/>
            </a:pPr>
            <a:r>
              <a:rPr lang="en" sz="2200" i="1"/>
              <a:t>Recommendations  </a:t>
            </a:r>
            <a:endParaRPr/>
          </a:p>
          <a:p>
            <a:pPr marL="0" lvl="0" indent="0" algn="l" rtl="0">
              <a:spcBef>
                <a:spcPts val="1200"/>
              </a:spcBef>
              <a:spcAft>
                <a:spcPts val="0"/>
              </a:spcAft>
              <a:buClr>
                <a:schemeClr val="dk1"/>
              </a:buClr>
              <a:buSzPct val="39285"/>
              <a:buFont typeface="Arial"/>
              <a:buNone/>
            </a:pPr>
            <a:endParaRPr/>
          </a:p>
          <a:p>
            <a:pPr marL="0" lvl="0" indent="0" algn="l" rtl="0">
              <a:spcBef>
                <a:spcPts val="0"/>
              </a:spcBef>
              <a:spcAft>
                <a:spcPts val="0"/>
              </a:spcAft>
              <a:buNone/>
            </a:pPr>
            <a:endParaRPr/>
          </a:p>
        </p:txBody>
      </p:sp>
      <p:sp>
        <p:nvSpPr>
          <p:cNvPr id="168" name="Google Shape;168;p31"/>
          <p:cNvSpPr txBox="1">
            <a:spLocks noGrp="1"/>
          </p:cNvSpPr>
          <p:nvPr>
            <p:ph type="body" idx="1"/>
          </p:nvPr>
        </p:nvSpPr>
        <p:spPr>
          <a:xfrm>
            <a:off x="365250" y="782000"/>
            <a:ext cx="8520600" cy="39759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Clr>
                <a:schemeClr val="dk1"/>
              </a:buClr>
              <a:buSzPts val="1100"/>
              <a:buFont typeface="Arial"/>
              <a:buNone/>
            </a:pPr>
            <a:r>
              <a:rPr lang="en" sz="1350">
                <a:solidFill>
                  <a:schemeClr val="dk1"/>
                </a:solidFill>
              </a:rPr>
              <a:t>The general feedback that we've collected from the speakers and the students through the mode of feedback forms floated at the end of each session, suggests that there's lack of knowledge about various important topics like Menstruation, Sex Education, Gender Based Discrimination, etc., within the education structure. To work on the same, we offer to provide the following recommendations:</a:t>
            </a:r>
            <a:endParaRPr sz="1350" b="1" u="sng">
              <a:solidFill>
                <a:schemeClr val="dk1"/>
              </a:solidFill>
            </a:endParaRPr>
          </a:p>
          <a:p>
            <a:pPr marL="457200" lvl="0" indent="-314325" algn="l" rtl="0">
              <a:spcBef>
                <a:spcPts val="1200"/>
              </a:spcBef>
              <a:spcAft>
                <a:spcPts val="0"/>
              </a:spcAft>
              <a:buClr>
                <a:schemeClr val="dk1"/>
              </a:buClr>
              <a:buSzPts val="1350"/>
              <a:buChar char="●"/>
            </a:pPr>
            <a:r>
              <a:rPr lang="en" sz="1350">
                <a:solidFill>
                  <a:schemeClr val="dk1"/>
                </a:solidFill>
              </a:rPr>
              <a:t>Future sessions with gynecologist-  As the students were very curious to know about the specific medical details mentioned in the sessions, the presence of a specialist like a gynecologist along with the speakers would make the session even more comprehensive towards educating communities. </a:t>
            </a:r>
            <a:endParaRPr sz="1350">
              <a:solidFill>
                <a:schemeClr val="dk1"/>
              </a:solidFill>
            </a:endParaRPr>
          </a:p>
          <a:p>
            <a:pPr marL="457200" lvl="0" indent="-314325" algn="l" rtl="0">
              <a:spcBef>
                <a:spcPts val="0"/>
              </a:spcBef>
              <a:spcAft>
                <a:spcPts val="0"/>
              </a:spcAft>
              <a:buClr>
                <a:schemeClr val="dk1"/>
              </a:buClr>
              <a:buSzPts val="1350"/>
              <a:buChar char="●"/>
            </a:pPr>
            <a:r>
              <a:rPr lang="en" sz="1350">
                <a:solidFill>
                  <a:schemeClr val="dk1"/>
                </a:solidFill>
              </a:rPr>
              <a:t>Offline sessions - Although the team came up with a detailed and interactive approach to make students learn about menstruation online, offline sessions would allow for a better understanding for the students</a:t>
            </a:r>
            <a:endParaRPr sz="1350">
              <a:solidFill>
                <a:schemeClr val="dk1"/>
              </a:solidFill>
            </a:endParaRPr>
          </a:p>
          <a:p>
            <a:pPr marL="457200" lvl="0" indent="-314325" algn="l" rtl="0">
              <a:spcBef>
                <a:spcPts val="0"/>
              </a:spcBef>
              <a:spcAft>
                <a:spcPts val="0"/>
              </a:spcAft>
              <a:buClr>
                <a:schemeClr val="dk1"/>
              </a:buClr>
              <a:buSzPts val="1350"/>
              <a:buChar char="●"/>
            </a:pPr>
            <a:r>
              <a:rPr lang="en" sz="1350">
                <a:solidFill>
                  <a:schemeClr val="dk1"/>
                </a:solidFill>
              </a:rPr>
              <a:t>Visual Content: While conducting the sessions we have also noticed that students respond well to visual content and this is a way administration can use to introduce other new topics to the students.</a:t>
            </a:r>
            <a:endParaRPr sz="1350">
              <a:solidFill>
                <a:schemeClr val="dk1"/>
              </a:solidFill>
            </a:endParaRPr>
          </a:p>
          <a:p>
            <a:pPr marL="457200" lvl="0" indent="-314325" algn="l" rtl="0">
              <a:spcBef>
                <a:spcPts val="0"/>
              </a:spcBef>
              <a:spcAft>
                <a:spcPts val="0"/>
              </a:spcAft>
              <a:buClr>
                <a:schemeClr val="dk1"/>
              </a:buClr>
              <a:buSzPts val="1350"/>
              <a:buChar char="●"/>
            </a:pPr>
            <a:r>
              <a:rPr lang="en" sz="1350">
                <a:solidFill>
                  <a:schemeClr val="dk1"/>
                </a:solidFill>
              </a:rPr>
              <a:t>More sessions for boys: The boys had no questions during the sessions and it was evident that they were feeling awkward or shy. The interaction was also quite low in the boys’ session and so we would recommend more such sessions for them</a:t>
            </a:r>
            <a:endParaRPr sz="135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3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1200"/>
              </a:spcBef>
              <a:spcAft>
                <a:spcPts val="1200"/>
              </a:spcAft>
              <a:buClr>
                <a:schemeClr val="dk1"/>
              </a:buClr>
              <a:buSzPct val="50000"/>
              <a:buFont typeface="Arial"/>
              <a:buNone/>
            </a:pPr>
            <a:r>
              <a:rPr lang="en" sz="2200" i="1"/>
              <a:t>Conclusion </a:t>
            </a:r>
            <a:r>
              <a:rPr lang="en" sz="2311" i="1"/>
              <a:t> </a:t>
            </a:r>
            <a:endParaRPr sz="2911"/>
          </a:p>
        </p:txBody>
      </p:sp>
      <p:sp>
        <p:nvSpPr>
          <p:cNvPr id="174" name="Google Shape;174;p3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1200"/>
              </a:spcBef>
              <a:spcAft>
                <a:spcPts val="0"/>
              </a:spcAft>
              <a:buClr>
                <a:schemeClr val="dk1"/>
              </a:buClr>
              <a:buSzPts val="1100"/>
              <a:buFont typeface="Arial"/>
              <a:buNone/>
            </a:pPr>
            <a:r>
              <a:rPr lang="en" sz="1600" dirty="0">
                <a:solidFill>
                  <a:schemeClr val="dk1"/>
                </a:solidFill>
              </a:rPr>
              <a:t>We would like to extend our gratitude to the District Administration, Rupnagar for their invaluable support throughout the programme. Project Crimson would like to extend this collaboration in the future and organise follow-up offline sessions with the students in Ropar. </a:t>
            </a:r>
            <a:endParaRPr sz="1600" dirty="0">
              <a:solidFill>
                <a:schemeClr val="dk1"/>
              </a:solidFill>
            </a:endParaRPr>
          </a:p>
          <a:p>
            <a:pPr marL="0" lvl="0" indent="0" algn="l" rtl="0">
              <a:spcBef>
                <a:spcPts val="1200"/>
              </a:spcBef>
              <a:spcAft>
                <a:spcPts val="0"/>
              </a:spcAft>
              <a:buClr>
                <a:schemeClr val="dk1"/>
              </a:buClr>
              <a:buSzPts val="1100"/>
              <a:buFont typeface="Arial"/>
              <a:buNone/>
            </a:pPr>
            <a:r>
              <a:rPr lang="en" sz="1600" dirty="0">
                <a:solidFill>
                  <a:schemeClr val="dk1"/>
                </a:solidFill>
              </a:rPr>
              <a:t>When it comes to menstruation and the taboos around it, we did encourage teachers to create an atmosphere of open dialogue and hope that administration can facilitate this process as well. </a:t>
            </a:r>
            <a:endParaRPr sz="1600" dirty="0">
              <a:solidFill>
                <a:schemeClr val="dk1"/>
              </a:solidFill>
            </a:endParaRPr>
          </a:p>
          <a:p>
            <a:pPr marL="0" lvl="0" indent="0" algn="l" rtl="0">
              <a:spcBef>
                <a:spcPts val="1200"/>
              </a:spcBef>
              <a:spcAft>
                <a:spcPts val="1200"/>
              </a:spcAft>
              <a:buClr>
                <a:schemeClr val="dk1"/>
              </a:buClr>
              <a:buSzPts val="1100"/>
              <a:buFont typeface="Arial"/>
              <a:buNone/>
            </a:pPr>
            <a:r>
              <a:rPr lang="en" sz="1600" dirty="0">
                <a:solidFill>
                  <a:schemeClr val="dk1"/>
                </a:solidFill>
              </a:rPr>
              <a:t>This would not only help the students to carry a positive mindset back to their homes but also allow them to recognise discriminatory practices around themselves and put an end to them. </a:t>
            </a:r>
            <a:endParaRPr sz="2200" dirty="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1584</Words>
  <Application>Microsoft Office PowerPoint</Application>
  <PresentationFormat>On-screen Show (16:9)</PresentationFormat>
  <Paragraphs>74</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Times New Roman</vt:lpstr>
      <vt:lpstr>Simple Light</vt:lpstr>
      <vt:lpstr>Social Impact Assessment Report</vt:lpstr>
      <vt:lpstr>About the Initiative </vt:lpstr>
      <vt:lpstr>PowerPoint Presentation</vt:lpstr>
      <vt:lpstr>About the Sessions  </vt:lpstr>
      <vt:lpstr>PowerPoint Presentation</vt:lpstr>
      <vt:lpstr>PowerPoint Presentation</vt:lpstr>
      <vt:lpstr>Feedback for the Session </vt:lpstr>
      <vt:lpstr>Description of the Sessions  </vt:lpstr>
      <vt:lpstr>Interaction in the Sessions</vt:lpstr>
      <vt:lpstr>Boys’ Sessions  </vt:lpstr>
      <vt:lpstr>Topics Covered  </vt:lpstr>
      <vt:lpstr>PowerPoint Presentation</vt:lpstr>
      <vt:lpstr>Analysis of the Question &amp; Answer Round   </vt:lpstr>
      <vt:lpstr>Statistical Analysis of the Sessions</vt:lpstr>
      <vt:lpstr>PowerPoint Presentation</vt:lpstr>
      <vt:lpstr>PowerPoint Presentation</vt:lpstr>
      <vt:lpstr>PowerPoint Presentation</vt:lpstr>
      <vt:lpstr>Problems Faced    </vt:lpstr>
      <vt:lpstr>Recommendations    </vt:lpstr>
      <vt:lpstr>Conclusion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Nandini Shankhyan</cp:lastModifiedBy>
  <cp:revision>1</cp:revision>
  <dcterms:modified xsi:type="dcterms:W3CDTF">2026-09-05T17:11:18Z</dcterms:modified>
</cp:coreProperties>
</file>